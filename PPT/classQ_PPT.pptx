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omments/modernComment_125_C2B704E7.xml" ContentType="application/vnd.ms-powerpoint.comment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omments/modernComment_128_6AD31773.xml" ContentType="application/vnd.ms-powerpoint.comment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72" r:id="rId3"/>
    <p:sldId id="287" r:id="rId4"/>
    <p:sldId id="258" r:id="rId5"/>
    <p:sldId id="288" r:id="rId6"/>
    <p:sldId id="259" r:id="rId7"/>
    <p:sldId id="260" r:id="rId8"/>
    <p:sldId id="289" r:id="rId9"/>
    <p:sldId id="274" r:id="rId10"/>
    <p:sldId id="290" r:id="rId11"/>
    <p:sldId id="275" r:id="rId12"/>
    <p:sldId id="265" r:id="rId13"/>
    <p:sldId id="263" r:id="rId14"/>
    <p:sldId id="278" r:id="rId15"/>
    <p:sldId id="291" r:id="rId16"/>
    <p:sldId id="284" r:id="rId17"/>
    <p:sldId id="282" r:id="rId18"/>
    <p:sldId id="280" r:id="rId19"/>
    <p:sldId id="286" r:id="rId20"/>
    <p:sldId id="281" r:id="rId21"/>
    <p:sldId id="279" r:id="rId22"/>
    <p:sldId id="285" r:id="rId23"/>
    <p:sldId id="292" r:id="rId24"/>
    <p:sldId id="293" r:id="rId25"/>
    <p:sldId id="295" r:id="rId26"/>
    <p:sldId id="296" r:id="rId27"/>
    <p:sldId id="294" r:id="rId28"/>
    <p:sldId id="271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8FD07EF-D627-D640-7A36-553576AD74ED}" name="M" initials="M" userId="M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B7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51" autoAdjust="0"/>
    <p:restoredTop sz="93455" autoAdjust="0"/>
  </p:normalViewPr>
  <p:slideViewPr>
    <p:cSldViewPr snapToGrid="0" snapToObjects="1">
      <p:cViewPr varScale="1">
        <p:scale>
          <a:sx n="106" d="100"/>
          <a:sy n="106" d="100"/>
        </p:scale>
        <p:origin x="9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comments/modernComment_125_C2B704E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D96059E-99A9-44FA-B0E2-993F30D5EFEF}" authorId="{58FD07EF-D627-D640-7A36-553576AD74ED}" created="2026-06-08T07:56:37.628">
    <pc:sldMkLst xmlns:pc="http://schemas.microsoft.com/office/powerpoint/2013/main/command">
      <pc:docMk/>
      <pc:sldMk cId="3266774247" sldId="293"/>
    </pc:sldMkLst>
    <p188:txBody>
      <a:bodyPr/>
      <a:lstStyle/>
      <a:p>
        <a:r>
          <a:rPr lang="ko-KR" altLang="en-US"/>
          <a:t>사용자의 요청은 HTTPS를 통해 Cloudflare로 전달됩니다. Cloudflare Tunnel이 요청을 Docker 환경으로 전달하고, Docker 내부에서는 Nginx가 Reverse Proxy 역할을 수행하여 Django 애플리케이션에 요청을 전달합니다. Django는 PostgreSQL 데이터베이스와 통신하여 데이터를 처리한 뒤 결과를 사용자에게 반환합니다</a:t>
        </a:r>
      </a:p>
    </p188:txBody>
  </p188:cm>
</p188:cmLst>
</file>

<file path=ppt/comments/modernComment_128_6AD3177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A5FC26F-8D9D-4F07-BC4B-97130F04A696}" authorId="{58FD07EF-D627-D640-7A36-553576AD74ED}" created="2026-06-08T08:11:55.541">
    <pc:sldMkLst xmlns:pc="http://schemas.microsoft.com/office/powerpoint/2013/main/command">
      <pc:docMk/>
      <pc:sldMk cId="1792218995" sldId="296"/>
    </pc:sldMkLst>
    <p188:txBody>
      <a:bodyPr/>
      <a:lstStyle/>
      <a:p>
        <a:r>
          <a:rPr lang="ko-KR" altLang="en-US"/>
          <a:t>cloudflare : 컴퓨터 - 인터넷
pythonanywhere : 서버를 빌려쓴다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418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194A5-D3E8-FC73-1C1B-242A7C486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F7D7CB-B332-295B-1985-AC9334EC0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7B8F06-0FE3-9464-168C-02A8FE4C9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071C6-8DF9-D631-9865-9174053A47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75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52D33-1425-DA9D-87A9-88D2363A4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0D1A9-9BE0-94EE-1FF9-480A8B7B13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76A0C6-B7D9-3774-B8CE-4AD9A8A93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5DCB5-BA84-08B3-272B-354130650D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179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776A4-7CED-1769-AB39-20C081BBE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48E7EF-C5B7-4D9C-183A-A5898DF21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5A7361-0D02-9504-3D4B-32C0E268C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58A43-8BA3-95D3-A8BD-F89F0E5DEF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25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CF319-53B8-7017-91CA-0A99B0B60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54702D-70FB-BD9B-2B0B-BBD9E494E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66ADC-5B37-F624-F321-69439B10A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30160-5563-9327-7317-BA2C76C1D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54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2F78E-EDF0-BB28-1647-4317CFA1E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27A555-4588-C703-5A9C-57E2722168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53345-AF8D-B4BF-B133-8B1EE3DBAC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DD874-3584-45B0-FBB0-27E79E4CC3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5926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FDDEB-2ACC-6502-A9F6-3779BD359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555A2-FF3C-11E5-2D71-61F180A16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57770-3679-B5CD-5731-40DA09AD1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8C3CF-FD87-209F-A08A-8732468D67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192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A4006-F1AF-4B98-1482-9C97203BD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ACC2F-1D79-705D-399E-1924312E7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18C4F-9395-2CCE-8937-E2B51C100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08CDD-2938-70EC-E79A-ED089DF662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95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66DC1-FE30-D7E3-C260-38A705E64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8683A0-1C1F-2F2E-790B-E98E58769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0DB62-2F03-8639-3284-8D3796E30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B7293-566D-5262-64AB-31F3174EB1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5604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FDD7C-5458-495A-DD1A-76D67BCE2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B8B063-6C9A-C007-EEC2-489003DC4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6D30DF-26A6-BFA7-4171-265F44E3A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F60F4-E233-D73C-D6BE-453FC89EC9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084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47DDC-99A5-F8EE-3B0D-4EBFFDD80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83ACCE-FCB9-8D5F-35DC-741187773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AC4DC-F122-E288-3CDA-B59205E1B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E69C9-B964-97E6-1429-08FBB9F6CF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955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6F875-23E8-B9E9-8A45-861F23DCE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06DC68-CF9A-5FFF-7952-F058F2311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0443D6-83B9-3B76-94A0-DCEDD9F66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1C580-8185-A805-D1C6-981B2B8B6D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448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8179A-AEBC-5627-7264-34C363274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A168F5-230D-80EA-34CB-15F8B0E06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4AF77-5081-9613-5BDF-17A876906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5577-3884-8A44-C1E4-C2AEA85896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194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0EAD9-485D-414B-397F-3BE7793E1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145BD7-8DA3-F88B-6E44-36DE6AA02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CFA83-18D1-FD18-A8DE-4D60D4D6A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07810-D04D-57D5-A762-5FB5CBC2D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6599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15112-46AB-FF5A-C94A-A0DDC6DC3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158412-35A4-671E-8AF7-5167D7F82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E11B63-77AA-6B6E-EEFF-088D66D9A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5D824-E0B6-2F9F-8481-0222B979D2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35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9E8AF-CCCD-6CB1-F669-D8CE7636F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3EE72-370F-5D5F-BD74-7C411517D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BD2903-3F80-5BFD-77D2-194829BA1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BD437-AFD5-B0B1-C693-048E23AEF5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8655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6D1C9-88E0-E6FF-8BE8-117E68F70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6878E5-2847-2CF1-413D-ADD70A95A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FD7FE7-47B6-A113-333D-9BF3650CA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29021-0BE4-A4FD-4956-AA2C0C0BA4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316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B3778-689B-AA4A-C2A3-BECD2FD0F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83BE3D-B1A7-851F-F487-5FCAA2671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805128-7B7E-AD4A-89BB-845DB7894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03CFA-BCE9-396B-2E14-6007718A19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9597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79312-825C-8D23-1E86-3B860DA7D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BFC1E0-4934-AE33-E931-FDD44C48E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C39D59-C4A8-E01B-D7DC-C940F6F97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19DA3-2210-05F9-8CF3-AC5ECD4405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110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81E1C-80AB-5703-AB4F-641229840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69DB79-2E85-EC91-33A2-C89824165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54F2D6-EAAA-DDE9-B277-CC3EA3ECA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B99AD-958A-7E82-2B96-E4EDC7F52C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9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4B2B1-B58E-6840-266F-3772A8F68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B414F-4D4B-CEAD-F767-9FA48BCAF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86395-69D3-2998-D75E-BD09055B0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D1062-4CDF-48E5-D5E4-CEFD5D6C0E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1578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5_C2B704E7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8_6AD3177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lassq.pythonanywhere.com/" TargetMode="External"/><Relationship Id="rId4" Type="http://schemas.openxmlformats.org/officeDocument/2006/relationships/hyperlink" Target="https://cal-eternal-professional-neo.trycloudflare.com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classq.pythonanywhere.com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 w="9525">
            <a:solidFill>
              <a:srgbClr val="F7F8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39" y="0"/>
            <a:ext cx="4791456" cy="6437376"/>
          </a:xfrm>
          <a:prstGeom prst="rect">
            <a:avLst/>
          </a:prstGeom>
          <a:solidFill>
            <a:srgbClr val="E8F2EE"/>
          </a:solidFill>
          <a:ln w="9525">
            <a:solidFill>
              <a:srgbClr val="E8F2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502920"/>
            <a:ext cx="0" cy="557784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5168646"/>
            <a:ext cx="2926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ko-KR" altLang="en-US" sz="1400" b="1" dirty="0" err="1">
                <a:solidFill>
                  <a:srgbClr val="0F766E"/>
                </a:solidFill>
                <a:latin typeface="Georgia" panose="02040502050405020303" pitchFamily="18" charset="0"/>
                <a:ea typeface="휴먼모음T" panose="02030504000101010101" pitchFamily="18" charset="-127"/>
                <a:cs typeface="Malgun Gothic" pitchFamily="34" charset="-120"/>
              </a:rPr>
              <a:t>팀명</a:t>
            </a:r>
            <a:r>
              <a:rPr lang="en-US" altLang="ko-KR" sz="1400" b="1" dirty="0">
                <a:solidFill>
                  <a:srgbClr val="0F766E"/>
                </a:solidFill>
                <a:latin typeface="Georgia" panose="02040502050405020303" pitchFamily="18" charset="0"/>
                <a:ea typeface="휴먼모음T" panose="02030504000101010101" pitchFamily="18" charset="-127"/>
                <a:cs typeface="Malgun Gothic" pitchFamily="34" charset="-120"/>
              </a:rPr>
              <a:t>=</a:t>
            </a:r>
            <a:r>
              <a:rPr lang="en-US" sz="1400" b="1" dirty="0">
                <a:solidFill>
                  <a:srgbClr val="0F766E"/>
                </a:solidFill>
                <a:latin typeface="Georgia" panose="02040502050405020303" pitchFamily="18" charset="0"/>
                <a:ea typeface="휴먼모음T" panose="02030504000101010101" pitchFamily="18" charset="-127"/>
                <a:cs typeface="Malgun Gothic" pitchFamily="34" charset="-120"/>
              </a:rPr>
              <a:t>input()</a:t>
            </a:r>
            <a:endParaRPr lang="en-US" sz="1400" dirty="0">
              <a:latin typeface="Georgia" panose="02040502050405020303" pitchFamily="18" charset="0"/>
              <a:ea typeface="휴먼모음T" panose="02030504000101010101" pitchFamily="18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017159"/>
            <a:ext cx="4937760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7202A"/>
                </a:solidFill>
                <a:latin typeface="Georgia" panose="02040502050405020303" pitchFamily="18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4600" dirty="0">
              <a:latin typeface="Georgia" panose="020405020504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4944" y="1901952"/>
            <a:ext cx="4937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700" b="1" dirty="0">
                <a:solidFill>
                  <a:srgbClr val="334155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사용자 참여형 </a:t>
            </a:r>
            <a:r>
              <a:rPr lang="en-US" altLang="ko-KR" sz="1700" b="1" dirty="0">
                <a:solidFill>
                  <a:srgbClr val="334155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Q&amp;A </a:t>
            </a:r>
            <a:r>
              <a:rPr lang="ko-KR" altLang="en-US" sz="1700" b="1" dirty="0">
                <a:solidFill>
                  <a:srgbClr val="334155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플랫폼</a:t>
            </a:r>
            <a:endParaRPr lang="en-US" sz="17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94944" y="5440680"/>
            <a:ext cx="3840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차지환 · 한영탁 · 이연수 · 김영인</a:t>
            </a:r>
            <a:endParaRPr lang="en-US" sz="12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897B2C9-B626-D5B8-4E9B-A97832D3E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814948"/>
            <a:ext cx="1342293" cy="13422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0965E7-F552-83DF-2BEC-3C951EEE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304C110-E7F2-6460-3951-01A0E591B33B}"/>
              </a:ext>
            </a:extLst>
          </p:cNvPr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B29CAD5-2C94-0BBC-6700-2D4219970F8C}"/>
              </a:ext>
            </a:extLst>
          </p:cNvPr>
          <p:cNvSpPr/>
          <p:nvPr/>
        </p:nvSpPr>
        <p:spPr>
          <a:xfrm>
            <a:off x="530352" y="749808"/>
            <a:ext cx="9418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endParaRPr lang="en-US" sz="21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A9E5F55-310A-BF81-947D-0C7D3D0A93C6}"/>
              </a:ext>
            </a:extLst>
          </p:cNvPr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955AE79-BF12-17F3-A2A2-761273AC00C3}"/>
              </a:ext>
            </a:extLst>
          </p:cNvPr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8CCFB77-6D79-57E5-FF6C-570FDDBB1F30}"/>
              </a:ext>
            </a:extLst>
          </p:cNvPr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ADE88F7-F3EA-70F3-A81F-B37CC6BD700E}"/>
              </a:ext>
            </a:extLst>
          </p:cNvPr>
          <p:cNvGrpSpPr/>
          <p:nvPr/>
        </p:nvGrpSpPr>
        <p:grpSpPr>
          <a:xfrm>
            <a:off x="3320641" y="1002379"/>
            <a:ext cx="5382768" cy="713232"/>
            <a:chOff x="3404616" y="1253839"/>
            <a:chExt cx="5382768" cy="713232"/>
          </a:xfrm>
        </p:grpSpPr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33FD0A39-DDC8-4653-2B5C-1A5553708567}"/>
                </a:ext>
              </a:extLst>
            </p:cNvPr>
            <p:cNvSpPr/>
            <p:nvPr/>
          </p:nvSpPr>
          <p:spPr>
            <a:xfrm>
              <a:off x="3404616" y="1253839"/>
              <a:ext cx="5382768" cy="713232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D4DDD8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D051AE81-E20C-7766-28A6-7919BCB8195C}"/>
                </a:ext>
              </a:extLst>
            </p:cNvPr>
            <p:cNvSpPr/>
            <p:nvPr/>
          </p:nvSpPr>
          <p:spPr>
            <a:xfrm>
              <a:off x="3569208" y="1505086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F766E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01</a:t>
              </a:r>
              <a:endParaRPr lang="en-US" sz="14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391DDA8E-6216-AB71-1939-8ED258B94F77}"/>
                </a:ext>
              </a:extLst>
            </p:cNvPr>
            <p:cNvSpPr/>
            <p:nvPr/>
          </p:nvSpPr>
          <p:spPr>
            <a:xfrm>
              <a:off x="4172712" y="1390999"/>
              <a:ext cx="0" cy="438912"/>
            </a:xfrm>
            <a:prstGeom prst="line">
              <a:avLst/>
            </a:prstGeom>
            <a:noFill/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8F2145FF-B413-9AB0-088B-64F8D2B53ADC}"/>
                </a:ext>
              </a:extLst>
            </p:cNvPr>
            <p:cNvSpPr/>
            <p:nvPr/>
          </p:nvSpPr>
          <p:spPr>
            <a:xfrm>
              <a:off x="4337304" y="1487011"/>
              <a:ext cx="1508760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7202A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팀원 소개</a:t>
              </a:r>
              <a:endParaRPr lang="en-US" sz="1600" b="1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AB9C3A5-BBF8-6E38-FF25-E90007C7F0BF}"/>
              </a:ext>
            </a:extLst>
          </p:cNvPr>
          <p:cNvGrpSpPr/>
          <p:nvPr/>
        </p:nvGrpSpPr>
        <p:grpSpPr>
          <a:xfrm>
            <a:off x="3320641" y="1901858"/>
            <a:ext cx="5382768" cy="713232"/>
            <a:chOff x="3404616" y="2241391"/>
            <a:chExt cx="5382768" cy="713232"/>
          </a:xfrm>
        </p:grpSpPr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84528F92-96F2-DB21-ED39-B982C5CEC8FF}"/>
                </a:ext>
              </a:extLst>
            </p:cNvPr>
            <p:cNvSpPr/>
            <p:nvPr/>
          </p:nvSpPr>
          <p:spPr>
            <a:xfrm>
              <a:off x="3404616" y="2241391"/>
              <a:ext cx="5382768" cy="713232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0DE26805-C1EE-5E74-EDA1-A6E7A7147580}"/>
                </a:ext>
              </a:extLst>
            </p:cNvPr>
            <p:cNvSpPr/>
            <p:nvPr/>
          </p:nvSpPr>
          <p:spPr>
            <a:xfrm>
              <a:off x="3569208" y="2516823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F766E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02</a:t>
              </a:r>
              <a:endParaRPr lang="en-US" sz="14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5384B667-008E-9DDD-9DF1-18A7D120DC34}"/>
                </a:ext>
              </a:extLst>
            </p:cNvPr>
            <p:cNvSpPr/>
            <p:nvPr/>
          </p:nvSpPr>
          <p:spPr>
            <a:xfrm>
              <a:off x="4172712" y="2378551"/>
              <a:ext cx="0" cy="438912"/>
            </a:xfrm>
            <a:prstGeom prst="line">
              <a:avLst/>
            </a:prstGeom>
            <a:noFill/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42" name="Text 40">
              <a:extLst>
                <a:ext uri="{FF2B5EF4-FFF2-40B4-BE49-F238E27FC236}">
                  <a16:creationId xmlns:a16="http://schemas.microsoft.com/office/drawing/2014/main" id="{9A95640F-31A6-F321-813B-5CE1491FF31B}"/>
                </a:ext>
              </a:extLst>
            </p:cNvPr>
            <p:cNvSpPr/>
            <p:nvPr/>
          </p:nvSpPr>
          <p:spPr>
            <a:xfrm>
              <a:off x="4337304" y="2483707"/>
              <a:ext cx="1508760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l">
                <a:buNone/>
              </a:pPr>
              <a:r>
                <a:rPr lang="ko-KR" altLang="en-US" sz="1600" b="1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서비스 소개</a:t>
              </a:r>
              <a:endParaRPr lang="en-US" sz="1600" b="1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A4B6806-4309-CD62-5F06-134BFA169DED}"/>
              </a:ext>
            </a:extLst>
          </p:cNvPr>
          <p:cNvGrpSpPr/>
          <p:nvPr/>
        </p:nvGrpSpPr>
        <p:grpSpPr>
          <a:xfrm>
            <a:off x="3317811" y="5469741"/>
            <a:ext cx="5382768" cy="713232"/>
            <a:chOff x="3404616" y="5194828"/>
            <a:chExt cx="5382768" cy="713232"/>
          </a:xfrm>
        </p:grpSpPr>
        <p:sp>
          <p:nvSpPr>
            <p:cNvPr id="51" name="Shape 7">
              <a:extLst>
                <a:ext uri="{FF2B5EF4-FFF2-40B4-BE49-F238E27FC236}">
                  <a16:creationId xmlns:a16="http://schemas.microsoft.com/office/drawing/2014/main" id="{2E82311E-F462-0E5E-240F-FEC592ECF5DD}"/>
                </a:ext>
              </a:extLst>
            </p:cNvPr>
            <p:cNvSpPr/>
            <p:nvPr/>
          </p:nvSpPr>
          <p:spPr>
            <a:xfrm>
              <a:off x="3404616" y="5194828"/>
              <a:ext cx="5382768" cy="713232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52" name="Text 8">
              <a:extLst>
                <a:ext uri="{FF2B5EF4-FFF2-40B4-BE49-F238E27FC236}">
                  <a16:creationId xmlns:a16="http://schemas.microsoft.com/office/drawing/2014/main" id="{F43A01C8-E887-33CA-F96C-E0839E11BF54}"/>
                </a:ext>
              </a:extLst>
            </p:cNvPr>
            <p:cNvSpPr/>
            <p:nvPr/>
          </p:nvSpPr>
          <p:spPr>
            <a:xfrm>
              <a:off x="3569208" y="5458874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F766E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06</a:t>
              </a:r>
              <a:endParaRPr lang="en-US" sz="14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53" name="Shape 9">
              <a:extLst>
                <a:ext uri="{FF2B5EF4-FFF2-40B4-BE49-F238E27FC236}">
                  <a16:creationId xmlns:a16="http://schemas.microsoft.com/office/drawing/2014/main" id="{42E1732F-5ECB-C8DD-F113-A0DD2E143304}"/>
                </a:ext>
              </a:extLst>
            </p:cNvPr>
            <p:cNvSpPr/>
            <p:nvPr/>
          </p:nvSpPr>
          <p:spPr>
            <a:xfrm>
              <a:off x="4172712" y="5333081"/>
              <a:ext cx="0" cy="438912"/>
            </a:xfrm>
            <a:prstGeom prst="line">
              <a:avLst/>
            </a:prstGeom>
            <a:noFill/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54" name="Text 10">
              <a:extLst>
                <a:ext uri="{FF2B5EF4-FFF2-40B4-BE49-F238E27FC236}">
                  <a16:creationId xmlns:a16="http://schemas.microsoft.com/office/drawing/2014/main" id="{1CE40201-03CA-76E8-F45A-A0A9C80C5F9A}"/>
                </a:ext>
              </a:extLst>
            </p:cNvPr>
            <p:cNvSpPr/>
            <p:nvPr/>
          </p:nvSpPr>
          <p:spPr>
            <a:xfrm>
              <a:off x="4337304" y="5454565"/>
              <a:ext cx="1508760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l">
                <a:buNone/>
              </a:pPr>
              <a:r>
                <a:rPr lang="ko-KR" altLang="en-US" sz="1600" b="1" dirty="0">
                  <a:solidFill>
                    <a:srgbClr val="17202A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배포 </a:t>
              </a:r>
              <a:r>
                <a:rPr lang="en-US" altLang="ko-KR" sz="1600" b="1" dirty="0">
                  <a:solidFill>
                    <a:srgbClr val="17202A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&amp; </a:t>
              </a:r>
              <a:r>
                <a:rPr lang="ko-KR" altLang="en-US" sz="1600" b="1" dirty="0">
                  <a:solidFill>
                    <a:srgbClr val="17202A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시연</a:t>
              </a:r>
              <a:endParaRPr lang="en-US" sz="16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3FFD5B8-03B8-5407-8C05-B6131ED771E1}"/>
              </a:ext>
            </a:extLst>
          </p:cNvPr>
          <p:cNvGrpSpPr/>
          <p:nvPr/>
        </p:nvGrpSpPr>
        <p:grpSpPr>
          <a:xfrm>
            <a:off x="3320641" y="3690924"/>
            <a:ext cx="5382768" cy="713232"/>
            <a:chOff x="3404616" y="4210812"/>
            <a:chExt cx="5382768" cy="713232"/>
          </a:xfrm>
        </p:grpSpPr>
        <p:sp>
          <p:nvSpPr>
            <p:cNvPr id="39" name="Shape 37">
              <a:extLst>
                <a:ext uri="{FF2B5EF4-FFF2-40B4-BE49-F238E27FC236}">
                  <a16:creationId xmlns:a16="http://schemas.microsoft.com/office/drawing/2014/main" id="{20E556BD-9C8D-D5C7-482D-BB370C9DFA7F}"/>
                </a:ext>
              </a:extLst>
            </p:cNvPr>
            <p:cNvSpPr/>
            <p:nvPr/>
          </p:nvSpPr>
          <p:spPr>
            <a:xfrm>
              <a:off x="3404616" y="4210812"/>
              <a:ext cx="5382768" cy="713232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40" name="Text 38">
              <a:extLst>
                <a:ext uri="{FF2B5EF4-FFF2-40B4-BE49-F238E27FC236}">
                  <a16:creationId xmlns:a16="http://schemas.microsoft.com/office/drawing/2014/main" id="{8B8DEA7F-DD5C-3ABE-D4AB-AC3418EC7A70}"/>
                </a:ext>
              </a:extLst>
            </p:cNvPr>
            <p:cNvSpPr/>
            <p:nvPr/>
          </p:nvSpPr>
          <p:spPr>
            <a:xfrm>
              <a:off x="3569208" y="4438301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F766E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04</a:t>
              </a:r>
              <a:endParaRPr lang="en-US" sz="14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41" name="Shape 39">
              <a:extLst>
                <a:ext uri="{FF2B5EF4-FFF2-40B4-BE49-F238E27FC236}">
                  <a16:creationId xmlns:a16="http://schemas.microsoft.com/office/drawing/2014/main" id="{095938F2-94E9-F10D-7431-08D8C641DF52}"/>
                </a:ext>
              </a:extLst>
            </p:cNvPr>
            <p:cNvSpPr/>
            <p:nvPr/>
          </p:nvSpPr>
          <p:spPr>
            <a:xfrm>
              <a:off x="4172712" y="4329684"/>
              <a:ext cx="0" cy="438912"/>
            </a:xfrm>
            <a:prstGeom prst="line">
              <a:avLst/>
            </a:prstGeom>
            <a:noFill/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32" name="Text 30">
              <a:extLst>
                <a:ext uri="{FF2B5EF4-FFF2-40B4-BE49-F238E27FC236}">
                  <a16:creationId xmlns:a16="http://schemas.microsoft.com/office/drawing/2014/main" id="{4725A7F3-04AE-9E19-F96E-568ABCCB6D72}"/>
                </a:ext>
              </a:extLst>
            </p:cNvPr>
            <p:cNvSpPr/>
            <p:nvPr/>
          </p:nvSpPr>
          <p:spPr>
            <a:xfrm>
              <a:off x="4337304" y="4453128"/>
              <a:ext cx="1508760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Diagrams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0AA9B19-6047-FF54-D969-62F93999343D}"/>
              </a:ext>
            </a:extLst>
          </p:cNvPr>
          <p:cNvGrpSpPr/>
          <p:nvPr/>
        </p:nvGrpSpPr>
        <p:grpSpPr>
          <a:xfrm>
            <a:off x="3317811" y="2801337"/>
            <a:ext cx="5382768" cy="713232"/>
            <a:chOff x="3404616" y="3228943"/>
            <a:chExt cx="5382768" cy="713232"/>
          </a:xfrm>
        </p:grpSpPr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2957F903-F066-B09F-CDAE-7A00ACA97565}"/>
                </a:ext>
              </a:extLst>
            </p:cNvPr>
            <p:cNvSpPr/>
            <p:nvPr/>
          </p:nvSpPr>
          <p:spPr>
            <a:xfrm>
              <a:off x="3404616" y="3228943"/>
              <a:ext cx="5382768" cy="713232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8BC535FF-8B77-47C7-F24E-FF4B052B5E83}"/>
                </a:ext>
              </a:extLst>
            </p:cNvPr>
            <p:cNvSpPr/>
            <p:nvPr/>
          </p:nvSpPr>
          <p:spPr>
            <a:xfrm>
              <a:off x="3560064" y="3473218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F766E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03</a:t>
              </a:r>
              <a:endParaRPr lang="en-US" sz="1400" b="1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31" name="Shape 29">
              <a:extLst>
                <a:ext uri="{FF2B5EF4-FFF2-40B4-BE49-F238E27FC236}">
                  <a16:creationId xmlns:a16="http://schemas.microsoft.com/office/drawing/2014/main" id="{242BFC88-661B-BFAF-B09B-38A1FC258E01}"/>
                </a:ext>
              </a:extLst>
            </p:cNvPr>
            <p:cNvSpPr/>
            <p:nvPr/>
          </p:nvSpPr>
          <p:spPr>
            <a:xfrm>
              <a:off x="4172712" y="3366103"/>
              <a:ext cx="0" cy="438912"/>
            </a:xfrm>
            <a:prstGeom prst="line">
              <a:avLst/>
            </a:prstGeom>
            <a:noFill/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6D658521-7FE6-23FA-B6A7-9EAD57054F61}"/>
                </a:ext>
              </a:extLst>
            </p:cNvPr>
            <p:cNvSpPr/>
            <p:nvPr/>
          </p:nvSpPr>
          <p:spPr>
            <a:xfrm>
              <a:off x="4337304" y="3480230"/>
              <a:ext cx="1508760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l">
                <a:buNone/>
              </a:pPr>
              <a:r>
                <a:rPr lang="ko-KR" altLang="en-US" sz="1600" b="1" dirty="0">
                  <a:solidFill>
                    <a:srgbClr val="17202A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개발 환경</a:t>
              </a:r>
              <a:endParaRPr lang="en-US" sz="16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sp>
        <p:nvSpPr>
          <p:cNvPr id="63" name="Text 1">
            <a:extLst>
              <a:ext uri="{FF2B5EF4-FFF2-40B4-BE49-F238E27FC236}">
                <a16:creationId xmlns:a16="http://schemas.microsoft.com/office/drawing/2014/main" id="{FC7ED961-E88C-FD89-4AEC-9E703794997A}"/>
              </a:ext>
            </a:extLst>
          </p:cNvPr>
          <p:cNvSpPr/>
          <p:nvPr/>
        </p:nvSpPr>
        <p:spPr>
          <a:xfrm>
            <a:off x="672084" y="2059817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endParaRPr lang="en-US" sz="85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0F5178E-2700-2D62-E141-FB8D66DB7BAC}"/>
              </a:ext>
            </a:extLst>
          </p:cNvPr>
          <p:cNvGrpSpPr/>
          <p:nvPr/>
        </p:nvGrpSpPr>
        <p:grpSpPr>
          <a:xfrm>
            <a:off x="530352" y="402336"/>
            <a:ext cx="1097280" cy="347472"/>
            <a:chOff x="530352" y="402336"/>
            <a:chExt cx="960120" cy="256032"/>
          </a:xfrm>
        </p:grpSpPr>
        <p:sp>
          <p:nvSpPr>
            <p:cNvPr id="13" name="Shape 0">
              <a:extLst>
                <a:ext uri="{FF2B5EF4-FFF2-40B4-BE49-F238E27FC236}">
                  <a16:creationId xmlns:a16="http://schemas.microsoft.com/office/drawing/2014/main" id="{D1B9B0FD-07B3-0C86-9855-715AD034988F}"/>
                </a:ext>
              </a:extLst>
            </p:cNvPr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14" name="Text 1">
              <a:extLst>
                <a:ext uri="{FF2B5EF4-FFF2-40B4-BE49-F238E27FC236}">
                  <a16:creationId xmlns:a16="http://schemas.microsoft.com/office/drawing/2014/main" id="{E72F7B80-48F8-D254-3874-C32D7EDECA90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목차</a:t>
              </a:r>
              <a:endParaRPr lang="en-US" sz="16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8AB3A97-553D-C8C5-8A43-5A8BC4121193}"/>
              </a:ext>
            </a:extLst>
          </p:cNvPr>
          <p:cNvGrpSpPr/>
          <p:nvPr/>
        </p:nvGrpSpPr>
        <p:grpSpPr>
          <a:xfrm>
            <a:off x="3317811" y="4588238"/>
            <a:ext cx="5382768" cy="713232"/>
            <a:chOff x="3404616" y="5194828"/>
            <a:chExt cx="5382768" cy="713232"/>
          </a:xfrm>
        </p:grpSpPr>
        <p:sp>
          <p:nvSpPr>
            <p:cNvPr id="24" name="Shape 7">
              <a:extLst>
                <a:ext uri="{FF2B5EF4-FFF2-40B4-BE49-F238E27FC236}">
                  <a16:creationId xmlns:a16="http://schemas.microsoft.com/office/drawing/2014/main" id="{26263A8D-4739-AF34-12AA-BCDF8C8F61C7}"/>
                </a:ext>
              </a:extLst>
            </p:cNvPr>
            <p:cNvSpPr/>
            <p:nvPr/>
          </p:nvSpPr>
          <p:spPr>
            <a:xfrm>
              <a:off x="3404616" y="5194828"/>
              <a:ext cx="5382768" cy="713232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25" name="Text 8">
              <a:extLst>
                <a:ext uri="{FF2B5EF4-FFF2-40B4-BE49-F238E27FC236}">
                  <a16:creationId xmlns:a16="http://schemas.microsoft.com/office/drawing/2014/main" id="{89203577-3D52-31B6-2FD0-8F07F7C5BBA5}"/>
                </a:ext>
              </a:extLst>
            </p:cNvPr>
            <p:cNvSpPr/>
            <p:nvPr/>
          </p:nvSpPr>
          <p:spPr>
            <a:xfrm>
              <a:off x="3569208" y="5458874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F766E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05</a:t>
              </a:r>
              <a:endParaRPr lang="en-US" sz="14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6" name="Shape 9">
              <a:extLst>
                <a:ext uri="{FF2B5EF4-FFF2-40B4-BE49-F238E27FC236}">
                  <a16:creationId xmlns:a16="http://schemas.microsoft.com/office/drawing/2014/main" id="{8BDA1140-11C7-07AC-00DF-CBE00D6830BC}"/>
                </a:ext>
              </a:extLst>
            </p:cNvPr>
            <p:cNvSpPr/>
            <p:nvPr/>
          </p:nvSpPr>
          <p:spPr>
            <a:xfrm>
              <a:off x="4172712" y="5333081"/>
              <a:ext cx="0" cy="438912"/>
            </a:xfrm>
            <a:prstGeom prst="line">
              <a:avLst/>
            </a:prstGeom>
            <a:noFill/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27" name="Text 10">
              <a:extLst>
                <a:ext uri="{FF2B5EF4-FFF2-40B4-BE49-F238E27FC236}">
                  <a16:creationId xmlns:a16="http://schemas.microsoft.com/office/drawing/2014/main" id="{AEBD8393-DD9C-BD36-F3EA-B1B1162E113A}"/>
                </a:ext>
              </a:extLst>
            </p:cNvPr>
            <p:cNvSpPr/>
            <p:nvPr/>
          </p:nvSpPr>
          <p:spPr>
            <a:xfrm>
              <a:off x="4337304" y="5454565"/>
              <a:ext cx="1508760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l">
                <a:buNone/>
              </a:pPr>
              <a:r>
                <a:rPr lang="ko-KR" altLang="en-US" sz="1600" b="1" dirty="0">
                  <a:solidFill>
                    <a:srgbClr val="17202A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핵심 기능</a:t>
              </a:r>
              <a:endParaRPr lang="en-US" sz="16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3276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4EDE6-CC7F-1828-DFC6-3CF9BE890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147D9C-A71D-4847-5AFB-3966C5F8CCB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 w="9525">
            <a:solidFill>
              <a:srgbClr val="F7F8F6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EF7F7C7-D8D5-A6F0-8497-B8F13F271719}"/>
              </a:ext>
            </a:extLst>
          </p:cNvPr>
          <p:cNvSpPr/>
          <p:nvPr/>
        </p:nvSpPr>
        <p:spPr>
          <a:xfrm>
            <a:off x="4114801" y="0"/>
            <a:ext cx="8083291" cy="6437376"/>
          </a:xfrm>
          <a:prstGeom prst="rect">
            <a:avLst/>
          </a:prstGeom>
          <a:solidFill>
            <a:srgbClr val="E8F2EE"/>
          </a:solidFill>
          <a:ln w="9525">
            <a:solidFill>
              <a:srgbClr val="E8F2EE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9AC87DF-ABAA-9832-DF2B-8CF7C2323D0F}"/>
              </a:ext>
            </a:extLst>
          </p:cNvPr>
          <p:cNvSpPr/>
          <p:nvPr/>
        </p:nvSpPr>
        <p:spPr>
          <a:xfrm>
            <a:off x="3825554" y="429768"/>
            <a:ext cx="0" cy="557784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B76BB78-6980-E9D1-BE49-2743F7336727}"/>
              </a:ext>
            </a:extLst>
          </p:cNvPr>
          <p:cNvSpPr/>
          <p:nvPr/>
        </p:nvSpPr>
        <p:spPr>
          <a:xfrm>
            <a:off x="530352" y="1341929"/>
            <a:ext cx="4937760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altLang="ko-KR" sz="3600" b="1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01 </a:t>
            </a:r>
            <a:r>
              <a:rPr lang="ko-KR" altLang="en-US" sz="3600" b="1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팀원 소개</a:t>
            </a:r>
            <a:endParaRPr lang="en-US" sz="3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9EF085C6-D4ED-3EA9-038E-3FD4E9D426E0}"/>
              </a:ext>
            </a:extLst>
          </p:cNvPr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65DEC4FF-2D3D-44CD-8BBC-FC0A47DABAA5}"/>
              </a:ext>
            </a:extLst>
          </p:cNvPr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F643908-6717-F2C7-F48E-B407C5CC02AE}"/>
              </a:ext>
            </a:extLst>
          </p:cNvPr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217518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그룹 58">
            <a:extLst>
              <a:ext uri="{FF2B5EF4-FFF2-40B4-BE49-F238E27FC236}">
                <a16:creationId xmlns:a16="http://schemas.microsoft.com/office/drawing/2014/main" id="{13B014EE-D556-4FCD-242E-EDD04D10FA49}"/>
              </a:ext>
            </a:extLst>
          </p:cNvPr>
          <p:cNvGrpSpPr/>
          <p:nvPr/>
        </p:nvGrpSpPr>
        <p:grpSpPr>
          <a:xfrm>
            <a:off x="530352" y="402336"/>
            <a:ext cx="960120" cy="256032"/>
            <a:chOff x="530352" y="402336"/>
            <a:chExt cx="960120" cy="256032"/>
          </a:xfrm>
        </p:grpSpPr>
        <p:sp>
          <p:nvSpPr>
            <p:cNvPr id="2" name="Shape 0"/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TAM</a:t>
              </a:r>
              <a:endParaRPr lang="en-US" sz="85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539496" y="749808"/>
            <a:ext cx="9418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2150" b="1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팀원 소개</a:t>
            </a:r>
            <a:endParaRPr lang="en-US" sz="21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00" dirty="0"/>
          </a:p>
        </p:txBody>
      </p:sp>
      <p:sp>
        <p:nvSpPr>
          <p:cNvPr id="9" name="Shape 7"/>
          <p:cNvSpPr>
            <a:spLocks/>
          </p:cNvSpPr>
          <p:nvPr/>
        </p:nvSpPr>
        <p:spPr>
          <a:xfrm>
            <a:off x="713232" y="1828800"/>
            <a:ext cx="2450592" cy="3310128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2121408"/>
            <a:ext cx="621792" cy="6217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212848"/>
            <a:ext cx="6217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00784" y="2084832"/>
            <a:ext cx="1143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차지환</a:t>
            </a:r>
            <a:endParaRPr lang="en-US" sz="15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700784" y="2450592"/>
            <a:ext cx="1216152" cy="292608"/>
          </a:xfrm>
          <a:prstGeom prst="roundRect">
            <a:avLst>
              <a:gd name="adj" fmla="val 23077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6190" y="2530713"/>
            <a:ext cx="96926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질문 목록 페이지</a:t>
            </a:r>
            <a:endParaRPr lang="en-US" sz="10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69264" y="2999232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144" y="2962656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05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질문 목록 페이지 내 검색</a:t>
            </a:r>
            <a:r>
              <a:rPr lang="en-US" altLang="ko-KR" sz="105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105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태그 필터</a:t>
            </a:r>
            <a:r>
              <a:rPr lang="en-US" altLang="ko-KR" sz="105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105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상태 필터</a:t>
            </a:r>
            <a:r>
              <a:rPr lang="en-US" altLang="ko-KR" sz="105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105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공감 순 정렬 </a:t>
            </a:r>
            <a:endParaRPr lang="en-US" altLang="ko-KR" sz="10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69264" y="3474720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52144" y="3408972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강사 홈 구현</a:t>
            </a:r>
            <a:endParaRPr lang="en-US" altLang="ko-KR" sz="1050" dirty="0">
              <a:solidFill>
                <a:srgbClr val="17202A"/>
              </a:solidFill>
              <a:latin typeface="휴먼모음T" panose="02030504000101010101" pitchFamily="18" charset="-127"/>
              <a:ea typeface="휴먼모음T" panose="02030504000101010101" pitchFamily="18" charset="-127"/>
              <a:cs typeface="Malgun Gothic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69264" y="3950208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52144" y="3884460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명예의 전당 구현</a:t>
            </a:r>
            <a:endParaRPr lang="en-US" sz="10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502152" y="1828800"/>
            <a:ext cx="2450592" cy="3310128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58184" y="2121408"/>
            <a:ext cx="621792" cy="6217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58184" y="2212848"/>
            <a:ext cx="6217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89704" y="2084832"/>
            <a:ext cx="1143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한영탁</a:t>
            </a:r>
            <a:endParaRPr lang="en-US" sz="15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489704" y="2450592"/>
            <a:ext cx="1188720" cy="292608"/>
          </a:xfrm>
          <a:prstGeom prst="roundRect">
            <a:avLst>
              <a:gd name="adj" fmla="val 23077"/>
            </a:avLst>
          </a:prstGeom>
          <a:solidFill>
            <a:srgbClr val="2563EB"/>
          </a:solidFill>
          <a:ln w="9525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88983" y="2522004"/>
            <a:ext cx="96926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질문 상세 페이지 </a:t>
            </a:r>
            <a:endParaRPr lang="en-US" sz="105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758184" y="2999232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2563EB"/>
          </a:solidFill>
          <a:ln w="9525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41064" y="2898648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altLang="ko-KR" sz="105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github</a:t>
            </a:r>
            <a:r>
              <a:rPr lang="ko-KR" altLang="en-US" sz="105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협업 관리</a:t>
            </a:r>
            <a:endParaRPr lang="en-US" sz="10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758184" y="3474720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2563EB"/>
          </a:solidFill>
          <a:ln w="9525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41064" y="3374136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3758184" y="3950208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2563EB"/>
          </a:solidFill>
          <a:ln w="9525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41064" y="3945423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r>
              <a:rPr lang="en-US" altLang="ko-KR" sz="105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Google OAuth </a:t>
            </a:r>
            <a:r>
              <a:rPr lang="ko-KR" altLang="en-US" sz="105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로그인 연동 설정</a:t>
            </a:r>
            <a:endParaRPr lang="en-US" sz="10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263640" y="1828800"/>
            <a:ext cx="2450592" cy="3310128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47104" y="2121408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47104" y="2212848"/>
            <a:ext cx="6217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78624" y="2084832"/>
            <a:ext cx="1143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이연수</a:t>
            </a:r>
            <a:endParaRPr lang="en-US" sz="15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278624" y="2450592"/>
            <a:ext cx="1188720" cy="292608"/>
          </a:xfrm>
          <a:prstGeom prst="roundRect">
            <a:avLst>
              <a:gd name="adj" fmla="val 23077"/>
            </a:avLst>
          </a:prstGeom>
          <a:solidFill>
            <a:srgbClr val="F59E0B"/>
          </a:solidFill>
          <a:ln w="9525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86612" y="2522004"/>
            <a:ext cx="96926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질문 등록 페이지 </a:t>
            </a:r>
            <a:endParaRPr lang="en-US" sz="10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547104" y="2999232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F59E0B"/>
          </a:solidFill>
          <a:ln w="9525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9984" y="3043212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r>
              <a:rPr lang="ko-KR" altLang="en-US" sz="1050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전체적인 </a:t>
            </a:r>
            <a:r>
              <a:rPr lang="en-US" altLang="ko-KR" sz="1050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html/CSS </a:t>
            </a:r>
            <a:r>
              <a:rPr lang="ko-KR" altLang="en-US" sz="1050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수정</a:t>
            </a:r>
            <a:r>
              <a:rPr lang="en-US" altLang="ko-KR" sz="1050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 </a:t>
            </a:r>
            <a:r>
              <a:rPr lang="ko-KR" altLang="en-US" sz="1050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및 정리</a:t>
            </a:r>
            <a:endParaRPr lang="en-US" altLang="ko-KR" sz="10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 algn="l">
              <a:buNone/>
            </a:pP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6547104" y="3474720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F59E0B"/>
          </a:solidFill>
          <a:ln w="9525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9984" y="3408972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폰트 적용</a:t>
            </a:r>
            <a:endParaRPr lang="en-US" sz="10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547104" y="3950208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F59E0B"/>
          </a:solidFill>
          <a:ln w="9525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9984" y="3884460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05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최종 </a:t>
            </a:r>
            <a:r>
              <a:rPr lang="en-US" altLang="ko-KR" sz="105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ppt</a:t>
            </a:r>
            <a:r>
              <a:rPr lang="ko-KR" altLang="en-US" sz="105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제작</a:t>
            </a:r>
            <a:endParaRPr lang="en-US" sz="10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079992" y="1828800"/>
            <a:ext cx="2450592" cy="3310128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9525">
            <a:solidFill>
              <a:srgbClr val="D4DDD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6" name="Shape 44"/>
          <p:cNvSpPr/>
          <p:nvPr/>
        </p:nvSpPr>
        <p:spPr>
          <a:xfrm>
            <a:off x="9336024" y="2121408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36024" y="2212848"/>
            <a:ext cx="6217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067544" y="2084832"/>
            <a:ext cx="1143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김영인</a:t>
            </a:r>
            <a:endParaRPr lang="en-US" sz="15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0067544" y="2450592"/>
            <a:ext cx="1188720" cy="292608"/>
          </a:xfrm>
          <a:prstGeom prst="roundRect">
            <a:avLst>
              <a:gd name="adj" fmla="val 23077"/>
            </a:avLst>
          </a:prstGeom>
          <a:solidFill>
            <a:srgbClr val="7C3AED"/>
          </a:solidFill>
          <a:ln w="9525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175532" y="2522004"/>
            <a:ext cx="96926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로그인 </a:t>
            </a:r>
            <a:r>
              <a:rPr lang="en-US" altLang="ko-KR" sz="105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/ </a:t>
            </a:r>
            <a:r>
              <a:rPr lang="ko-KR" altLang="en-US" sz="105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회원가입</a:t>
            </a:r>
            <a:endParaRPr lang="en-US" sz="10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9336024" y="2999232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7C3AED"/>
          </a:solidFill>
          <a:ln w="9525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518904" y="2898648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로그인 </a:t>
            </a:r>
            <a:r>
              <a:rPr lang="en-US" altLang="ko-KR" sz="1050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/ </a:t>
            </a:r>
            <a:r>
              <a:rPr lang="ko-KR" altLang="en-US" sz="1050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로그아웃 기능 구현</a:t>
            </a:r>
            <a:endParaRPr lang="en-US" sz="10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9336024" y="3474720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7C3AED"/>
          </a:solidFill>
          <a:ln w="9525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518904" y="3374136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회원가입 기능 구현</a:t>
            </a:r>
            <a:endParaRPr lang="en-US" sz="10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9336024" y="3950208"/>
            <a:ext cx="100584" cy="100584"/>
          </a:xfrm>
          <a:prstGeom prst="roundRect">
            <a:avLst>
              <a:gd name="adj" fmla="val 54545"/>
            </a:avLst>
          </a:prstGeom>
          <a:solidFill>
            <a:srgbClr val="7C3AED"/>
          </a:solidFill>
          <a:ln w="9525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518904" y="3849624"/>
            <a:ext cx="1737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최종 </a:t>
            </a:r>
            <a:r>
              <a:rPr lang="en-US" altLang="ko-KR" sz="1050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ppt</a:t>
            </a:r>
            <a:r>
              <a:rPr lang="ko-KR" altLang="en-US" sz="1050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제작</a:t>
            </a:r>
            <a:endParaRPr lang="en-US" sz="10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63BB1-853F-1058-D9DD-835266D1F9F1}"/>
              </a:ext>
            </a:extLst>
          </p:cNvPr>
          <p:cNvSpPr txBox="1"/>
          <p:nvPr/>
        </p:nvSpPr>
        <p:spPr>
          <a:xfrm>
            <a:off x="3829412" y="3394164"/>
            <a:ext cx="273140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Figma</a:t>
            </a:r>
            <a:r>
              <a:rPr lang="ko-KR" altLang="en-US" sz="1050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로 부트스트랩 기본</a:t>
            </a:r>
            <a:r>
              <a:rPr lang="en-US" altLang="ko-KR" sz="1050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1050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템플릿 </a:t>
            </a:r>
            <a:endParaRPr lang="en-US" altLang="ko-KR" sz="1050" dirty="0">
              <a:solidFill>
                <a:srgbClr val="17202A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ko-KR" altLang="en-US" sz="1050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제작</a:t>
            </a:r>
            <a:endParaRPr lang="en-US" altLang="ko-KR" sz="10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689218D-F4C9-BC88-45D7-E68011FEDFF2}"/>
              </a:ext>
            </a:extLst>
          </p:cNvPr>
          <p:cNvSpPr txBox="1"/>
          <p:nvPr/>
        </p:nvSpPr>
        <p:spPr>
          <a:xfrm>
            <a:off x="3821711" y="1828800"/>
            <a:ext cx="741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👑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E9FB0B96-9A19-E606-90DA-CF0DFA456F64}"/>
              </a:ext>
            </a:extLst>
          </p:cNvPr>
          <p:cNvGrpSpPr/>
          <p:nvPr/>
        </p:nvGrpSpPr>
        <p:grpSpPr>
          <a:xfrm>
            <a:off x="530352" y="402336"/>
            <a:ext cx="1097280" cy="347472"/>
            <a:chOff x="530352" y="402336"/>
            <a:chExt cx="960120" cy="256032"/>
          </a:xfrm>
        </p:grpSpPr>
        <p:sp>
          <p:nvSpPr>
            <p:cNvPr id="58" name="Shape 0">
              <a:extLst>
                <a:ext uri="{FF2B5EF4-FFF2-40B4-BE49-F238E27FC236}">
                  <a16:creationId xmlns:a16="http://schemas.microsoft.com/office/drawing/2014/main" id="{97CDC256-EA34-D057-0688-70ED5ED823B3}"/>
                </a:ext>
              </a:extLst>
            </p:cNvPr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61" name="Text 1">
              <a:extLst>
                <a:ext uri="{FF2B5EF4-FFF2-40B4-BE49-F238E27FC236}">
                  <a16:creationId xmlns:a16="http://schemas.microsoft.com/office/drawing/2014/main" id="{FE67DA94-5322-3043-7B08-97510A2AE65A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TEAM</a:t>
              </a:r>
              <a:endParaRPr lang="en-US" sz="16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0EF09-4A3D-0105-DC49-38DCAAE7A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B52F14E-65D1-EA42-BBEA-D48F2D805E9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 w="9525">
            <a:solidFill>
              <a:srgbClr val="F7F8F6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A7D17C4-183E-0FF0-79E4-8828357FB8A7}"/>
              </a:ext>
            </a:extLst>
          </p:cNvPr>
          <p:cNvSpPr/>
          <p:nvPr/>
        </p:nvSpPr>
        <p:spPr>
          <a:xfrm>
            <a:off x="4114801" y="0"/>
            <a:ext cx="8083291" cy="6437376"/>
          </a:xfrm>
          <a:prstGeom prst="rect">
            <a:avLst/>
          </a:prstGeom>
          <a:solidFill>
            <a:srgbClr val="E8F2EE"/>
          </a:solidFill>
          <a:ln w="9525">
            <a:solidFill>
              <a:srgbClr val="E8F2EE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B29DE4C-B7CF-34CD-6FB7-71675D85B82F}"/>
              </a:ext>
            </a:extLst>
          </p:cNvPr>
          <p:cNvSpPr/>
          <p:nvPr/>
        </p:nvSpPr>
        <p:spPr>
          <a:xfrm>
            <a:off x="3825554" y="429768"/>
            <a:ext cx="0" cy="557784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C25114B-D8E7-BBC1-3752-71979D127760}"/>
              </a:ext>
            </a:extLst>
          </p:cNvPr>
          <p:cNvSpPr/>
          <p:nvPr/>
        </p:nvSpPr>
        <p:spPr>
          <a:xfrm>
            <a:off x="530352" y="1341929"/>
            <a:ext cx="4937760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altLang="ko-KR" sz="3600" b="1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02 </a:t>
            </a:r>
            <a:r>
              <a:rPr lang="ko-KR" altLang="en-US" sz="3600" b="1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서비스 소개</a:t>
            </a:r>
            <a:endParaRPr lang="en-US" sz="3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6A8E6129-958D-F38E-7D7F-B403B4719F70}"/>
              </a:ext>
            </a:extLst>
          </p:cNvPr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D736FAAC-F365-C7E9-D44E-4B1F4A3481A0}"/>
              </a:ext>
            </a:extLst>
          </p:cNvPr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63F915D-D70A-E71D-78F9-DBF8C218C46A}"/>
              </a:ext>
            </a:extLst>
          </p:cNvPr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48263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00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30E0141-E688-7A32-9BC3-AFE25BA2AAF8}"/>
              </a:ext>
            </a:extLst>
          </p:cNvPr>
          <p:cNvGrpSpPr/>
          <p:nvPr/>
        </p:nvGrpSpPr>
        <p:grpSpPr>
          <a:xfrm>
            <a:off x="877824" y="2103554"/>
            <a:ext cx="4846320" cy="3017520"/>
            <a:chOff x="713232" y="1719072"/>
            <a:chExt cx="4846320" cy="3017520"/>
          </a:xfrm>
        </p:grpSpPr>
        <p:sp>
          <p:nvSpPr>
            <p:cNvPr id="9" name="Shape 7"/>
            <p:cNvSpPr/>
            <p:nvPr/>
          </p:nvSpPr>
          <p:spPr>
            <a:xfrm>
              <a:off x="713232" y="1719072"/>
              <a:ext cx="4846320" cy="82296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914400" y="1929384"/>
              <a:ext cx="146304" cy="146304"/>
            </a:xfrm>
            <a:prstGeom prst="roundRect">
              <a:avLst>
                <a:gd name="adj" fmla="val 37500"/>
              </a:avLst>
            </a:prstGeom>
            <a:solidFill>
              <a:srgbClr val="EF4444"/>
            </a:solidFill>
            <a:ln w="9525">
              <a:solidFill>
                <a:srgbClr val="EF4444">
                  <a:alpha val="0"/>
                </a:srgbClr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1207008" y="1801368"/>
              <a:ext cx="1280160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l">
                <a:buNone/>
              </a:pPr>
              <a:r>
                <a:rPr lang="ko-KR" altLang="en-US" sz="1600" b="1" dirty="0">
                  <a:solidFill>
                    <a:srgbClr val="17202A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심리적 부담</a:t>
              </a:r>
              <a:endParaRPr lang="en-US" sz="16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1207008" y="2103120"/>
              <a:ext cx="3611880" cy="219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l">
                <a:buNone/>
              </a:pPr>
              <a:r>
                <a:rPr lang="ko-KR" altLang="en-US" sz="1050" dirty="0">
                  <a:solidFill>
                    <a:srgbClr val="6B7280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나만 모르는 걸까 봐 두려워 질문을 망설입니다</a:t>
              </a:r>
              <a:r>
                <a:rPr lang="en-US" altLang="ko-KR" sz="1050" dirty="0">
                  <a:solidFill>
                    <a:srgbClr val="6B7280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.</a:t>
              </a:r>
              <a:endParaRPr lang="en-US" sz="105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713232" y="2816352"/>
              <a:ext cx="4846320" cy="82296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914400" y="3026664"/>
              <a:ext cx="146304" cy="146304"/>
            </a:xfrm>
            <a:prstGeom prst="roundRect">
              <a:avLst>
                <a:gd name="adj" fmla="val 37500"/>
              </a:avLst>
            </a:prstGeom>
            <a:solidFill>
              <a:srgbClr val="F59E0B"/>
            </a:solidFill>
            <a:ln w="9525">
              <a:solidFill>
                <a:srgbClr val="F59E0B">
                  <a:alpha val="0"/>
                </a:srgbClr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1207008" y="2898648"/>
              <a:ext cx="1280160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l">
                <a:buNone/>
              </a:pPr>
              <a:r>
                <a:rPr lang="ko-KR" altLang="en-US" sz="1600" b="1" dirty="0">
                  <a:solidFill>
                    <a:srgbClr val="17202A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중복</a:t>
              </a:r>
              <a:r>
                <a:rPr lang="en-US" sz="1600" b="1" dirty="0">
                  <a:solidFill>
                    <a:srgbClr val="17202A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 질문</a:t>
              </a:r>
              <a:endParaRPr lang="en-US" sz="16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1207008" y="3200400"/>
              <a:ext cx="3611880" cy="219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l">
                <a:buNone/>
              </a:pPr>
              <a:r>
                <a:rPr lang="ko-KR" altLang="en-US" sz="1050" dirty="0">
                  <a:solidFill>
                    <a:srgbClr val="6B7280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이미 답변한 질문이 매번 반복되지만</a:t>
              </a:r>
              <a:r>
                <a:rPr lang="en-US" altLang="ko-KR" sz="1050" dirty="0">
                  <a:solidFill>
                    <a:srgbClr val="6B7280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, </a:t>
              </a:r>
              <a:r>
                <a:rPr lang="ko-KR" altLang="en-US" sz="1050" dirty="0">
                  <a:solidFill>
                    <a:srgbClr val="6B7280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기록되지 않아 휘발됩니다</a:t>
              </a:r>
              <a:r>
                <a:rPr lang="en-US" altLang="ko-KR" sz="1050" dirty="0">
                  <a:solidFill>
                    <a:srgbClr val="6B7280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.</a:t>
              </a:r>
              <a:endParaRPr lang="en-US" sz="105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713232" y="3913632"/>
              <a:ext cx="4846320" cy="82296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914400" y="4123944"/>
              <a:ext cx="146304" cy="146304"/>
            </a:xfrm>
            <a:prstGeom prst="roundRect">
              <a:avLst>
                <a:gd name="adj" fmla="val 37500"/>
              </a:avLst>
            </a:prstGeom>
            <a:solidFill>
              <a:srgbClr val="2563EB"/>
            </a:solidFill>
            <a:ln w="9525">
              <a:solidFill>
                <a:srgbClr val="2563EB">
                  <a:alpha val="0"/>
                </a:srgbClr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1207008" y="3995928"/>
              <a:ext cx="1280160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l">
                <a:buNone/>
              </a:pPr>
              <a:r>
                <a:rPr lang="ko-KR" altLang="en-US" sz="1600" b="1" dirty="0">
                  <a:solidFill>
                    <a:srgbClr val="17202A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피드백 </a:t>
              </a:r>
              <a:r>
                <a:rPr lang="en-US" sz="1600" b="1" dirty="0" err="1">
                  <a:solidFill>
                    <a:srgbClr val="17202A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부재</a:t>
              </a:r>
              <a:endParaRPr lang="en-US" sz="16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1207008" y="4297680"/>
              <a:ext cx="3611880" cy="219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6B7280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답변이 올라와도 </a:t>
              </a:r>
              <a:r>
                <a:rPr lang="en-US" sz="1050" dirty="0" err="1">
                  <a:solidFill>
                    <a:srgbClr val="6B7280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질문자가</a:t>
              </a:r>
              <a:r>
                <a:rPr lang="en-US" sz="1050" dirty="0">
                  <a:solidFill>
                    <a:srgbClr val="6B7280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 </a:t>
              </a:r>
              <a:r>
                <a:rPr lang="ko-KR" altLang="en-US" sz="1050" dirty="0">
                  <a:solidFill>
                    <a:srgbClr val="6B7280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진짜 이해했는지 확인할 길이 없습니다</a:t>
              </a:r>
              <a:r>
                <a:rPr lang="en-US" sz="1050" dirty="0">
                  <a:solidFill>
                    <a:srgbClr val="6B7280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.</a:t>
              </a:r>
              <a:endParaRPr lang="en-US" sz="105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A712DEA-9C01-4541-2838-CB25D7A75A5B}"/>
              </a:ext>
            </a:extLst>
          </p:cNvPr>
          <p:cNvGrpSpPr/>
          <p:nvPr/>
        </p:nvGrpSpPr>
        <p:grpSpPr>
          <a:xfrm>
            <a:off x="530352" y="402336"/>
            <a:ext cx="960120" cy="256032"/>
            <a:chOff x="530352" y="402336"/>
            <a:chExt cx="960120" cy="256032"/>
          </a:xfrm>
        </p:grpSpPr>
        <p:sp>
          <p:nvSpPr>
            <p:cNvPr id="37" name="Shape 0">
              <a:extLst>
                <a:ext uri="{FF2B5EF4-FFF2-40B4-BE49-F238E27FC236}">
                  <a16:creationId xmlns:a16="http://schemas.microsoft.com/office/drawing/2014/main" id="{33AF2EB6-DB2D-D930-968E-9F0469B59953}"/>
                </a:ext>
              </a:extLst>
            </p:cNvPr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38" name="Text 1">
              <a:extLst>
                <a:ext uri="{FF2B5EF4-FFF2-40B4-BE49-F238E27FC236}">
                  <a16:creationId xmlns:a16="http://schemas.microsoft.com/office/drawing/2014/main" id="{C4D2AFC2-B224-7AA8-E920-FD1381FF4C55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8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서비스 소개</a:t>
              </a:r>
              <a:endParaRPr lang="en-US" sz="850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AF606DB-2A10-A0C8-5ACA-A77CDBE3C4DF}"/>
              </a:ext>
            </a:extLst>
          </p:cNvPr>
          <p:cNvGrpSpPr/>
          <p:nvPr/>
        </p:nvGrpSpPr>
        <p:grpSpPr>
          <a:xfrm>
            <a:off x="6559296" y="1810946"/>
            <a:ext cx="4553712" cy="3986784"/>
            <a:chOff x="6400800" y="1481328"/>
            <a:chExt cx="4553712" cy="3986784"/>
          </a:xfrm>
        </p:grpSpPr>
        <p:sp>
          <p:nvSpPr>
            <p:cNvPr id="40" name="Shape 19">
              <a:extLst>
                <a:ext uri="{FF2B5EF4-FFF2-40B4-BE49-F238E27FC236}">
                  <a16:creationId xmlns:a16="http://schemas.microsoft.com/office/drawing/2014/main" id="{2C8C5080-023B-1F88-B5E1-6E97EB478280}"/>
                </a:ext>
              </a:extLst>
            </p:cNvPr>
            <p:cNvSpPr/>
            <p:nvPr/>
          </p:nvSpPr>
          <p:spPr>
            <a:xfrm>
              <a:off x="6400800" y="1481328"/>
              <a:ext cx="4553712" cy="3986784"/>
            </a:xfrm>
            <a:prstGeom prst="roundRect">
              <a:avLst>
                <a:gd name="adj" fmla="val 1376"/>
              </a:avLst>
            </a:prstGeom>
            <a:solidFill>
              <a:srgbClr val="17202A"/>
            </a:solidFill>
            <a:ln w="9525">
              <a:solidFill>
                <a:srgbClr val="17202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 20">
              <a:extLst>
                <a:ext uri="{FF2B5EF4-FFF2-40B4-BE49-F238E27FC236}">
                  <a16:creationId xmlns:a16="http://schemas.microsoft.com/office/drawing/2014/main" id="{B988E29C-1B92-8952-361B-A67B35484BD1}"/>
                </a:ext>
              </a:extLst>
            </p:cNvPr>
            <p:cNvSpPr/>
            <p:nvPr/>
          </p:nvSpPr>
          <p:spPr>
            <a:xfrm>
              <a:off x="6720840" y="1828800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질문 공백이 만드는 수업 손실</a:t>
              </a:r>
              <a:endParaRPr lang="en-US" sz="1350" dirty="0"/>
            </a:p>
          </p:txBody>
        </p:sp>
        <p:sp>
          <p:nvSpPr>
            <p:cNvPr id="42" name="Shape 21">
              <a:extLst>
                <a:ext uri="{FF2B5EF4-FFF2-40B4-BE49-F238E27FC236}">
                  <a16:creationId xmlns:a16="http://schemas.microsoft.com/office/drawing/2014/main" id="{14A9E597-4CB7-53FD-CDE4-62A984EB64B1}"/>
                </a:ext>
              </a:extLst>
            </p:cNvPr>
            <p:cNvSpPr/>
            <p:nvPr/>
          </p:nvSpPr>
          <p:spPr>
            <a:xfrm>
              <a:off x="6748272" y="2487168"/>
              <a:ext cx="3566160" cy="0"/>
            </a:xfrm>
            <a:prstGeom prst="line">
              <a:avLst/>
            </a:prstGeom>
            <a:noFill/>
            <a:ln w="25400">
              <a:solidFill>
                <a:srgbClr val="14B8A6"/>
              </a:solidFill>
              <a:prstDash val="solid"/>
            </a:ln>
          </p:spPr>
        </p:sp>
        <p:sp>
          <p:nvSpPr>
            <p:cNvPr id="43" name="Text 22">
              <a:extLst>
                <a:ext uri="{FF2B5EF4-FFF2-40B4-BE49-F238E27FC236}">
                  <a16:creationId xmlns:a16="http://schemas.microsoft.com/office/drawing/2014/main" id="{2810AF79-E1FD-CA0F-74A8-8E07D6856CDB}"/>
                </a:ext>
              </a:extLst>
            </p:cNvPr>
            <p:cNvSpPr/>
            <p:nvPr/>
          </p:nvSpPr>
          <p:spPr>
            <a:xfrm>
              <a:off x="6748272" y="2267712"/>
              <a:ext cx="1188720" cy="20116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8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놓친 질문</a:t>
              </a:r>
              <a:endParaRPr lang="en-US" sz="1080" dirty="0"/>
            </a:p>
          </p:txBody>
        </p:sp>
        <p:sp>
          <p:nvSpPr>
            <p:cNvPr id="44" name="Text 23">
              <a:extLst>
                <a:ext uri="{FF2B5EF4-FFF2-40B4-BE49-F238E27FC236}">
                  <a16:creationId xmlns:a16="http://schemas.microsoft.com/office/drawing/2014/main" id="{D9141182-6AF9-994E-5F29-1016CB87C2DB}"/>
                </a:ext>
              </a:extLst>
            </p:cNvPr>
            <p:cNvSpPr/>
            <p:nvPr/>
          </p:nvSpPr>
          <p:spPr>
            <a:xfrm>
              <a:off x="8046720" y="2267712"/>
              <a:ext cx="2240280" cy="20116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850" dirty="0">
                  <a:solidFill>
                    <a:srgbClr val="D9E4D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수업 중 해소되지 않는 막힘</a:t>
              </a:r>
              <a:endParaRPr lang="en-US" sz="850" dirty="0"/>
            </a:p>
          </p:txBody>
        </p:sp>
        <p:sp>
          <p:nvSpPr>
            <p:cNvPr id="45" name="Shape 24">
              <a:extLst>
                <a:ext uri="{FF2B5EF4-FFF2-40B4-BE49-F238E27FC236}">
                  <a16:creationId xmlns:a16="http://schemas.microsoft.com/office/drawing/2014/main" id="{5D764463-949B-ED07-9332-7DC159613606}"/>
                </a:ext>
              </a:extLst>
            </p:cNvPr>
            <p:cNvSpPr/>
            <p:nvPr/>
          </p:nvSpPr>
          <p:spPr>
            <a:xfrm>
              <a:off x="6748272" y="3328416"/>
              <a:ext cx="3566160" cy="0"/>
            </a:xfrm>
            <a:prstGeom prst="line">
              <a:avLst/>
            </a:prstGeom>
            <a:noFill/>
            <a:ln w="25400">
              <a:solidFill>
                <a:srgbClr val="F59E0B"/>
              </a:solidFill>
              <a:prstDash val="solid"/>
            </a:ln>
          </p:spPr>
        </p:sp>
        <p:sp>
          <p:nvSpPr>
            <p:cNvPr id="46" name="Text 25">
              <a:extLst>
                <a:ext uri="{FF2B5EF4-FFF2-40B4-BE49-F238E27FC236}">
                  <a16:creationId xmlns:a16="http://schemas.microsoft.com/office/drawing/2014/main" id="{260EC05B-4E91-C478-C42A-4D32662DE210}"/>
                </a:ext>
              </a:extLst>
            </p:cNvPr>
            <p:cNvSpPr/>
            <p:nvPr/>
          </p:nvSpPr>
          <p:spPr>
            <a:xfrm>
              <a:off x="6748272" y="3108960"/>
              <a:ext cx="1188720" cy="20116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108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반복 설명</a:t>
              </a:r>
              <a:endParaRPr lang="en-US" sz="1080" dirty="0"/>
            </a:p>
          </p:txBody>
        </p:sp>
        <p:sp>
          <p:nvSpPr>
            <p:cNvPr id="47" name="Text 26">
              <a:extLst>
                <a:ext uri="{FF2B5EF4-FFF2-40B4-BE49-F238E27FC236}">
                  <a16:creationId xmlns:a16="http://schemas.microsoft.com/office/drawing/2014/main" id="{2E1EF220-9A72-1BA7-D479-0DE23ADF15E1}"/>
                </a:ext>
              </a:extLst>
            </p:cNvPr>
            <p:cNvSpPr/>
            <p:nvPr/>
          </p:nvSpPr>
          <p:spPr>
            <a:xfrm>
              <a:off x="8046720" y="3108960"/>
              <a:ext cx="2240280" cy="20116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850" dirty="0">
                  <a:solidFill>
                    <a:srgbClr val="D9E4D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매 학기</a:t>
              </a:r>
              <a:r>
                <a:rPr lang="en-US" altLang="ko-KR" sz="850" dirty="0">
                  <a:solidFill>
                    <a:srgbClr val="D9E4D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/</a:t>
              </a:r>
              <a:r>
                <a:rPr lang="ko-KR" altLang="en-US" sz="850" dirty="0">
                  <a:solidFill>
                    <a:srgbClr val="D9E4D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수업마다 같은 내용 </a:t>
              </a:r>
              <a:r>
                <a:rPr lang="ko-KR" altLang="en-US" sz="850" dirty="0" err="1">
                  <a:solidFill>
                    <a:srgbClr val="D9E4D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재설명</a:t>
              </a:r>
              <a:endParaRPr lang="en-US" sz="850" dirty="0"/>
            </a:p>
          </p:txBody>
        </p:sp>
        <p:sp>
          <p:nvSpPr>
            <p:cNvPr id="48" name="Shape 27">
              <a:extLst>
                <a:ext uri="{FF2B5EF4-FFF2-40B4-BE49-F238E27FC236}">
                  <a16:creationId xmlns:a16="http://schemas.microsoft.com/office/drawing/2014/main" id="{073479C1-65F7-D3CC-2D02-C369B00D5E4D}"/>
                </a:ext>
              </a:extLst>
            </p:cNvPr>
            <p:cNvSpPr/>
            <p:nvPr/>
          </p:nvSpPr>
          <p:spPr>
            <a:xfrm>
              <a:off x="6748272" y="4169664"/>
              <a:ext cx="3566160" cy="0"/>
            </a:xfrm>
            <a:prstGeom prst="line">
              <a:avLst/>
            </a:prstGeom>
            <a:noFill/>
            <a:ln w="25400">
              <a:solidFill>
                <a:srgbClr val="14B8A6"/>
              </a:solidFill>
              <a:prstDash val="solid"/>
            </a:ln>
          </p:spPr>
        </p:sp>
        <p:sp>
          <p:nvSpPr>
            <p:cNvPr id="49" name="Text 28">
              <a:extLst>
                <a:ext uri="{FF2B5EF4-FFF2-40B4-BE49-F238E27FC236}">
                  <a16:creationId xmlns:a16="http://schemas.microsoft.com/office/drawing/2014/main" id="{67B02CCE-C3B8-7302-098E-3AA5AF86D56F}"/>
                </a:ext>
              </a:extLst>
            </p:cNvPr>
            <p:cNvSpPr/>
            <p:nvPr/>
          </p:nvSpPr>
          <p:spPr>
            <a:xfrm>
              <a:off x="6748272" y="3950208"/>
              <a:ext cx="1188720" cy="20116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108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늦은 답변</a:t>
              </a:r>
              <a:endParaRPr lang="en-US" sz="1080" dirty="0"/>
            </a:p>
          </p:txBody>
        </p:sp>
        <p:sp>
          <p:nvSpPr>
            <p:cNvPr id="50" name="Text 29">
              <a:extLst>
                <a:ext uri="{FF2B5EF4-FFF2-40B4-BE49-F238E27FC236}">
                  <a16:creationId xmlns:a16="http://schemas.microsoft.com/office/drawing/2014/main" id="{40DEF4C1-6CE2-1AFA-3975-CBCE495256EC}"/>
                </a:ext>
              </a:extLst>
            </p:cNvPr>
            <p:cNvSpPr/>
            <p:nvPr/>
          </p:nvSpPr>
          <p:spPr>
            <a:xfrm>
              <a:off x="8046720" y="4004855"/>
              <a:ext cx="2240280" cy="20116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850" dirty="0">
                  <a:solidFill>
                    <a:srgbClr val="D9E4D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강사의 우선순위 파악 불가능</a:t>
              </a:r>
            </a:p>
            <a:p>
              <a:pPr marL="0" indent="0" algn="l">
                <a:buNone/>
              </a:pPr>
              <a:endParaRPr lang="en-US" sz="850" dirty="0"/>
            </a:p>
          </p:txBody>
        </p:sp>
        <p:sp>
          <p:nvSpPr>
            <p:cNvPr id="51" name="Text 30">
              <a:extLst>
                <a:ext uri="{FF2B5EF4-FFF2-40B4-BE49-F238E27FC236}">
                  <a16:creationId xmlns:a16="http://schemas.microsoft.com/office/drawing/2014/main" id="{65942A37-A662-15C4-8B94-951E3C2B8258}"/>
                </a:ext>
              </a:extLst>
            </p:cNvPr>
            <p:cNvSpPr/>
            <p:nvPr/>
          </p:nvSpPr>
          <p:spPr>
            <a:xfrm>
              <a:off x="6748272" y="4626430"/>
              <a:ext cx="3566160" cy="63137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85000" lnSpcReduction="10000"/>
            </a:bodyPr>
            <a:lstStyle/>
            <a:p>
              <a:pPr marL="0" indent="0" algn="l">
                <a:lnSpc>
                  <a:spcPct val="170000"/>
                </a:lnSpc>
                <a:buNone/>
              </a:pPr>
              <a:r>
                <a:rPr lang="en-US" altLang="ko-KR" sz="1050" dirty="0" err="1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ClassQ</a:t>
              </a:r>
              <a:r>
                <a:rPr lang="ko-KR" altLang="en-US" sz="1050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는 실시간 익명 질문과 공감 시스템을 통해</a:t>
              </a:r>
              <a:r>
                <a:rPr lang="en-US" altLang="ko-KR" sz="1050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</a:p>
            <a:p>
              <a:pPr marL="0" indent="0" algn="l">
                <a:lnSpc>
                  <a:spcPct val="170000"/>
                </a:lnSpc>
                <a:buNone/>
              </a:pPr>
              <a:r>
                <a:rPr lang="ko-KR" altLang="en-US" sz="1050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강사와 학생 사이의 질문 장벽을 허물고 </a:t>
              </a:r>
              <a:endParaRPr lang="en-US" altLang="ko-KR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endParaRPr>
            </a:p>
            <a:p>
              <a:pPr marL="0" indent="0" algn="l">
                <a:lnSpc>
                  <a:spcPct val="170000"/>
                </a:lnSpc>
                <a:buNone/>
              </a:pPr>
              <a:r>
                <a:rPr lang="ko-KR" altLang="en-US" sz="1050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데이터 기반의 양방향 수업을 만듭니다</a:t>
              </a:r>
              <a:r>
                <a:rPr lang="en-US" altLang="ko-KR" sz="1050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</a:t>
              </a:r>
              <a:endParaRPr lang="en-US" sz="1050" dirty="0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8A895A77-A971-DC18-976C-3F12A81F73ED}"/>
              </a:ext>
            </a:extLst>
          </p:cNvPr>
          <p:cNvGrpSpPr/>
          <p:nvPr/>
        </p:nvGrpSpPr>
        <p:grpSpPr>
          <a:xfrm>
            <a:off x="530352" y="402336"/>
            <a:ext cx="1097280" cy="347472"/>
            <a:chOff x="530352" y="402336"/>
            <a:chExt cx="960120" cy="256032"/>
          </a:xfrm>
        </p:grpSpPr>
        <p:sp>
          <p:nvSpPr>
            <p:cNvPr id="5" name="Shape 0">
              <a:extLst>
                <a:ext uri="{FF2B5EF4-FFF2-40B4-BE49-F238E27FC236}">
                  <a16:creationId xmlns:a16="http://schemas.microsoft.com/office/drawing/2014/main" id="{3C6CC2DE-8E37-02C2-9317-CEBBFC0E28B3}"/>
                </a:ext>
              </a:extLst>
            </p:cNvPr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21" name="Text 1">
              <a:extLst>
                <a:ext uri="{FF2B5EF4-FFF2-40B4-BE49-F238E27FC236}">
                  <a16:creationId xmlns:a16="http://schemas.microsoft.com/office/drawing/2014/main" id="{12E69558-21E0-D19C-BEA1-EF1233758531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서비스 소개</a:t>
              </a:r>
              <a:endParaRPr lang="en-US" sz="16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990BCCC7-FDC7-6365-E3D7-8B44B816ADEE}"/>
              </a:ext>
            </a:extLst>
          </p:cNvPr>
          <p:cNvGrpSpPr/>
          <p:nvPr/>
        </p:nvGrpSpPr>
        <p:grpSpPr>
          <a:xfrm>
            <a:off x="530352" y="402336"/>
            <a:ext cx="960120" cy="256032"/>
            <a:chOff x="530352" y="402336"/>
            <a:chExt cx="960120" cy="256032"/>
          </a:xfrm>
        </p:grpSpPr>
        <p:sp>
          <p:nvSpPr>
            <p:cNvPr id="2" name="Shape 0"/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3" name="Text 1"/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8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서비스 소개</a:t>
              </a:r>
              <a:endParaRPr lang="en-US" sz="850" dirty="0"/>
            </a:p>
          </p:txBody>
        </p:sp>
      </p:grpSp>
      <p:sp>
        <p:nvSpPr>
          <p:cNvPr id="6" name="Shape 4"/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00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7315ACD5-327D-4944-75D3-81228AB01DB0}"/>
              </a:ext>
            </a:extLst>
          </p:cNvPr>
          <p:cNvGrpSpPr/>
          <p:nvPr/>
        </p:nvGrpSpPr>
        <p:grpSpPr>
          <a:xfrm>
            <a:off x="832104" y="2660904"/>
            <a:ext cx="10369296" cy="1298448"/>
            <a:chOff x="777240" y="2148840"/>
            <a:chExt cx="10369296" cy="1298448"/>
          </a:xfrm>
        </p:grpSpPr>
        <p:sp>
          <p:nvSpPr>
            <p:cNvPr id="9" name="Shape 7"/>
            <p:cNvSpPr/>
            <p:nvPr/>
          </p:nvSpPr>
          <p:spPr>
            <a:xfrm>
              <a:off x="777240" y="2148840"/>
              <a:ext cx="1664208" cy="1298448"/>
            </a:xfrm>
            <a:prstGeom prst="roundRect">
              <a:avLst>
                <a:gd name="adj" fmla="val 4225"/>
              </a:avLst>
            </a:prstGeom>
            <a:solidFill>
              <a:srgbClr val="FFFFFF"/>
            </a:solidFill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941832" y="2386584"/>
              <a:ext cx="384048" cy="384048"/>
            </a:xfrm>
            <a:prstGeom prst="ellipse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941832" y="2459736"/>
              <a:ext cx="384048" cy="10972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1</a:t>
              </a:r>
              <a:endParaRPr lang="en-US" sz="11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1417320" y="2286000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120" b="1" dirty="0">
                  <a:solidFill>
                    <a:srgbClr val="17202A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질문 등록</a:t>
              </a:r>
              <a:endParaRPr lang="en-US" sz="112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1417320" y="2660904"/>
              <a:ext cx="786384" cy="219456"/>
            </a:xfrm>
            <a:prstGeom prst="roundRect">
              <a:avLst>
                <a:gd name="adj" fmla="val 25000"/>
              </a:avLst>
            </a:prstGeom>
            <a:solidFill>
              <a:srgbClr val="2563EB"/>
            </a:solidFill>
            <a:ln w="9525">
              <a:solidFill>
                <a:srgbClr val="2563EB">
                  <a:alpha val="0"/>
                </a:srgbClr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1490472" y="2697480"/>
              <a:ext cx="640080" cy="146304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OPEN</a:t>
              </a:r>
              <a:endParaRPr lang="en-US" sz="9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2459736" y="2798064"/>
              <a:ext cx="457200" cy="0"/>
            </a:xfrm>
            <a:prstGeom prst="line">
              <a:avLst/>
            </a:prstGeom>
            <a:noFill/>
            <a:ln w="15240">
              <a:solidFill>
                <a:srgbClr val="D4DDD8"/>
              </a:solidFill>
              <a:prstDash val="solid"/>
              <a:tailEnd type="triangle"/>
            </a:ln>
          </p:spPr>
        </p:sp>
        <p:sp>
          <p:nvSpPr>
            <p:cNvPr id="16" name="Shape 14"/>
            <p:cNvSpPr/>
            <p:nvPr/>
          </p:nvSpPr>
          <p:spPr>
            <a:xfrm>
              <a:off x="2953512" y="2148840"/>
              <a:ext cx="1664208" cy="1298448"/>
            </a:xfrm>
            <a:prstGeom prst="roundRect">
              <a:avLst>
                <a:gd name="adj" fmla="val 4225"/>
              </a:avLst>
            </a:prstGeom>
            <a:solidFill>
              <a:srgbClr val="FFFFFF"/>
            </a:solidFill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3118104" y="2386584"/>
              <a:ext cx="384048" cy="384048"/>
            </a:xfrm>
            <a:prstGeom prst="ellipse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3118104" y="2459736"/>
              <a:ext cx="384048" cy="10972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2</a:t>
              </a:r>
              <a:endParaRPr lang="en-US" sz="11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3593592" y="2286000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120" b="1" dirty="0">
                  <a:solidFill>
                    <a:srgbClr val="17202A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나도 궁금해요</a:t>
              </a:r>
              <a:endParaRPr lang="en-US" sz="112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3593592" y="2660904"/>
              <a:ext cx="786384" cy="219456"/>
            </a:xfrm>
            <a:prstGeom prst="roundRect">
              <a:avLst>
                <a:gd name="adj" fmla="val 25000"/>
              </a:avLst>
            </a:prstGeom>
            <a:solidFill>
              <a:srgbClr val="7C3AED"/>
            </a:solidFill>
            <a:ln w="9525">
              <a:solidFill>
                <a:srgbClr val="7C3AED">
                  <a:alpha val="0"/>
                </a:srgbClr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3666744" y="2697480"/>
              <a:ext cx="640080" cy="146304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AGREE</a:t>
              </a:r>
              <a:endParaRPr lang="en-US" sz="9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4636008" y="2798064"/>
              <a:ext cx="457200" cy="0"/>
            </a:xfrm>
            <a:prstGeom prst="line">
              <a:avLst/>
            </a:prstGeom>
            <a:noFill/>
            <a:ln w="15240">
              <a:solidFill>
                <a:srgbClr val="D4DDD8"/>
              </a:solidFill>
              <a:prstDash val="solid"/>
              <a:tailEnd type="triangle"/>
            </a:ln>
          </p:spPr>
        </p:sp>
        <p:sp>
          <p:nvSpPr>
            <p:cNvPr id="23" name="Shape 21"/>
            <p:cNvSpPr/>
            <p:nvPr/>
          </p:nvSpPr>
          <p:spPr>
            <a:xfrm>
              <a:off x="5129784" y="2148840"/>
              <a:ext cx="1664208" cy="1298448"/>
            </a:xfrm>
            <a:prstGeom prst="roundRect">
              <a:avLst>
                <a:gd name="adj" fmla="val 4225"/>
              </a:avLst>
            </a:prstGeom>
            <a:solidFill>
              <a:srgbClr val="FFFFFF"/>
            </a:solidFill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5294376" y="2386584"/>
              <a:ext cx="384048" cy="384048"/>
            </a:xfrm>
            <a:prstGeom prst="ellipse">
              <a:avLst/>
            </a:prstGeom>
            <a:solidFill>
              <a:srgbClr val="0F766E"/>
            </a:solidFill>
            <a:ln w="12700">
              <a:solidFill>
                <a:srgbClr val="0F766E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5294376" y="2459736"/>
              <a:ext cx="384048" cy="10972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3</a:t>
              </a:r>
              <a:endParaRPr lang="en-US" sz="11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5769864" y="2286000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120" b="1" dirty="0">
                  <a:solidFill>
                    <a:srgbClr val="17202A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강사 답변</a:t>
              </a:r>
              <a:endParaRPr lang="en-US" sz="112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5769864" y="2660904"/>
              <a:ext cx="786384" cy="219456"/>
            </a:xfrm>
            <a:prstGeom prst="roundRect">
              <a:avLst>
                <a:gd name="adj" fmla="val 25000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5843016" y="2697480"/>
              <a:ext cx="640080" cy="146304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ANSWERED</a:t>
              </a:r>
              <a:endParaRPr lang="en-US" sz="9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6812280" y="2798064"/>
              <a:ext cx="457200" cy="0"/>
            </a:xfrm>
            <a:prstGeom prst="line">
              <a:avLst/>
            </a:prstGeom>
            <a:noFill/>
            <a:ln w="15240">
              <a:solidFill>
                <a:srgbClr val="D4DDD8"/>
              </a:solidFill>
              <a:prstDash val="solid"/>
              <a:tailEnd type="triangle"/>
            </a:ln>
          </p:spPr>
        </p:sp>
        <p:sp>
          <p:nvSpPr>
            <p:cNvPr id="30" name="Shape 28"/>
            <p:cNvSpPr/>
            <p:nvPr/>
          </p:nvSpPr>
          <p:spPr>
            <a:xfrm>
              <a:off x="7306056" y="2148840"/>
              <a:ext cx="1664208" cy="1298448"/>
            </a:xfrm>
            <a:prstGeom prst="roundRect">
              <a:avLst>
                <a:gd name="adj" fmla="val 4225"/>
              </a:avLst>
            </a:prstGeom>
            <a:solidFill>
              <a:srgbClr val="FFFFFF"/>
            </a:solidFill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7470648" y="2386584"/>
              <a:ext cx="384048" cy="384048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7470648" y="2459736"/>
              <a:ext cx="384048" cy="10972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4</a:t>
              </a:r>
              <a:endParaRPr lang="en-US" sz="11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7946136" y="2286000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120" b="1" dirty="0">
                  <a:solidFill>
                    <a:srgbClr val="17202A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추가 질문</a:t>
              </a:r>
              <a:endParaRPr lang="en-US" sz="112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7946136" y="2660904"/>
              <a:ext cx="786384" cy="219456"/>
            </a:xfrm>
            <a:prstGeom prst="roundRect">
              <a:avLst>
                <a:gd name="adj" fmla="val 25000"/>
              </a:avLst>
            </a:prstGeom>
            <a:solidFill>
              <a:srgbClr val="F59E0B"/>
            </a:solidFill>
            <a:ln w="9525">
              <a:solidFill>
                <a:srgbClr val="F59E0B">
                  <a:alpha val="0"/>
                </a:srgbClr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8019288" y="2697480"/>
              <a:ext cx="640080" cy="146304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FOLLOW_UP</a:t>
              </a:r>
              <a:endParaRPr lang="en-US" sz="9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8988552" y="2798064"/>
              <a:ext cx="457200" cy="0"/>
            </a:xfrm>
            <a:prstGeom prst="line">
              <a:avLst/>
            </a:prstGeom>
            <a:noFill/>
            <a:ln w="15240">
              <a:solidFill>
                <a:srgbClr val="D4DDD8"/>
              </a:solidFill>
              <a:prstDash val="solid"/>
              <a:tailEnd type="triangle"/>
            </a:ln>
          </p:spPr>
        </p:sp>
        <p:sp>
          <p:nvSpPr>
            <p:cNvPr id="37" name="Shape 35"/>
            <p:cNvSpPr/>
            <p:nvPr/>
          </p:nvSpPr>
          <p:spPr>
            <a:xfrm>
              <a:off x="9482328" y="2148840"/>
              <a:ext cx="1664208" cy="1298448"/>
            </a:xfrm>
            <a:prstGeom prst="roundRect">
              <a:avLst>
                <a:gd name="adj" fmla="val 4225"/>
              </a:avLst>
            </a:prstGeom>
            <a:solidFill>
              <a:srgbClr val="FFFFFF"/>
            </a:solidFill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9646920" y="2386584"/>
              <a:ext cx="384048" cy="384048"/>
            </a:xfrm>
            <a:prstGeom prst="ellipse">
              <a:avLst/>
            </a:prstGeom>
            <a:solidFill>
              <a:srgbClr val="16A34A"/>
            </a:solidFill>
            <a:ln w="12700">
              <a:solidFill>
                <a:srgbClr val="16A34A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9646920" y="2459736"/>
              <a:ext cx="384048" cy="10972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5</a:t>
              </a:r>
              <a:endParaRPr lang="en-US" sz="11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10122408" y="2286000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120" b="1" dirty="0">
                  <a:solidFill>
                    <a:srgbClr val="17202A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해결 처리</a:t>
              </a:r>
              <a:endParaRPr lang="en-US" sz="112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41" name="Shape 39"/>
            <p:cNvSpPr/>
            <p:nvPr/>
          </p:nvSpPr>
          <p:spPr>
            <a:xfrm>
              <a:off x="10122408" y="2660904"/>
              <a:ext cx="786384" cy="219456"/>
            </a:xfrm>
            <a:prstGeom prst="roundRect">
              <a:avLst>
                <a:gd name="adj" fmla="val 25000"/>
              </a:avLst>
            </a:prstGeom>
            <a:solidFill>
              <a:srgbClr val="16A34A"/>
            </a:solidFill>
            <a:ln w="9525">
              <a:solidFill>
                <a:srgbClr val="16A34A">
                  <a:alpha val="0"/>
                </a:srgbClr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10195560" y="2697480"/>
              <a:ext cx="640080" cy="146304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RESOLVED</a:t>
              </a:r>
              <a:endParaRPr lang="en-US" sz="9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sp>
        <p:nvSpPr>
          <p:cNvPr id="44" name="Text 42"/>
          <p:cNvSpPr/>
          <p:nvPr/>
        </p:nvSpPr>
        <p:spPr>
          <a:xfrm>
            <a:off x="1069848" y="4315968"/>
            <a:ext cx="7315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DA2FEA5A-055D-6F60-E817-823C5791DD36}"/>
              </a:ext>
            </a:extLst>
          </p:cNvPr>
          <p:cNvGrpSpPr/>
          <p:nvPr/>
        </p:nvGrpSpPr>
        <p:grpSpPr>
          <a:xfrm>
            <a:off x="530352" y="402336"/>
            <a:ext cx="1097280" cy="347472"/>
            <a:chOff x="530352" y="402336"/>
            <a:chExt cx="960120" cy="256032"/>
          </a:xfrm>
        </p:grpSpPr>
        <p:sp>
          <p:nvSpPr>
            <p:cNvPr id="48" name="Shape 0">
              <a:extLst>
                <a:ext uri="{FF2B5EF4-FFF2-40B4-BE49-F238E27FC236}">
                  <a16:creationId xmlns:a16="http://schemas.microsoft.com/office/drawing/2014/main" id="{C25748DD-E296-19B8-E6C4-716AB68493EC}"/>
                </a:ext>
              </a:extLst>
            </p:cNvPr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51" name="Text 1">
              <a:extLst>
                <a:ext uri="{FF2B5EF4-FFF2-40B4-BE49-F238E27FC236}">
                  <a16:creationId xmlns:a16="http://schemas.microsoft.com/office/drawing/2014/main" id="{62EEACDB-5348-08AC-6D11-01B2D7941111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서비스 소개</a:t>
              </a:r>
              <a:endParaRPr lang="en-US" sz="16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6CC76-AF0B-CB21-8DD7-4AB38453A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9F5A3C5-D26D-565F-AEFB-7F19AB35331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 w="9525">
            <a:solidFill>
              <a:srgbClr val="F7F8F6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D94F06A-EAAC-75C7-627A-050FEB51B870}"/>
              </a:ext>
            </a:extLst>
          </p:cNvPr>
          <p:cNvSpPr/>
          <p:nvPr/>
        </p:nvSpPr>
        <p:spPr>
          <a:xfrm>
            <a:off x="4114801" y="0"/>
            <a:ext cx="8083291" cy="6437376"/>
          </a:xfrm>
          <a:prstGeom prst="rect">
            <a:avLst/>
          </a:prstGeom>
          <a:solidFill>
            <a:srgbClr val="E8F2EE"/>
          </a:solidFill>
          <a:ln w="9525">
            <a:solidFill>
              <a:srgbClr val="E8F2EE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065E764-A46F-201E-4B18-BF2B7570075D}"/>
              </a:ext>
            </a:extLst>
          </p:cNvPr>
          <p:cNvSpPr/>
          <p:nvPr/>
        </p:nvSpPr>
        <p:spPr>
          <a:xfrm>
            <a:off x="3825554" y="429768"/>
            <a:ext cx="0" cy="557784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A2EDA47-EF90-DD09-4A00-33D8AC0F1F6C}"/>
              </a:ext>
            </a:extLst>
          </p:cNvPr>
          <p:cNvSpPr/>
          <p:nvPr/>
        </p:nvSpPr>
        <p:spPr>
          <a:xfrm>
            <a:off x="530352" y="1341929"/>
            <a:ext cx="4937760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altLang="ko-KR" sz="3600" b="1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03 </a:t>
            </a:r>
            <a:r>
              <a:rPr lang="ko-KR" altLang="en-US" sz="3600" b="1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개발 환경</a:t>
            </a:r>
            <a:endParaRPr lang="en-US" sz="3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C33A2360-B7A8-0318-1745-BFAB7148CE17}"/>
              </a:ext>
            </a:extLst>
          </p:cNvPr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53951C8-A1B0-8537-EDAE-7E5B39DC86E3}"/>
              </a:ext>
            </a:extLst>
          </p:cNvPr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C71B9414-1FAF-E0F8-D858-34DB1FF47094}"/>
              </a:ext>
            </a:extLst>
          </p:cNvPr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142028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47E59D-1A31-206A-E772-7141A491D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C37B874-E355-8A17-A1EB-C07AEB436AFE}"/>
              </a:ext>
            </a:extLst>
          </p:cNvPr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CDF6B92-4069-3FE2-DD24-11E55B3FCE42}"/>
              </a:ext>
            </a:extLst>
          </p:cNvPr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EE89FE4-9E40-5C79-C13F-026CDF02C753}"/>
              </a:ext>
            </a:extLst>
          </p:cNvPr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0E43A3B-1E3B-8207-AC2C-7189A248F64E}"/>
              </a:ext>
            </a:extLst>
          </p:cNvPr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40F8E6A-7158-9565-2488-87B494DDC86C}"/>
              </a:ext>
            </a:extLst>
          </p:cNvPr>
          <p:cNvGrpSpPr/>
          <p:nvPr/>
        </p:nvGrpSpPr>
        <p:grpSpPr>
          <a:xfrm>
            <a:off x="893064" y="1365579"/>
            <a:ext cx="10607040" cy="1664208"/>
            <a:chOff x="777240" y="1874520"/>
            <a:chExt cx="10607040" cy="1664208"/>
          </a:xfrm>
        </p:grpSpPr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A1FC9A2F-70E8-D210-897F-34E0FA80AF82}"/>
                </a:ext>
              </a:extLst>
            </p:cNvPr>
            <p:cNvSpPr/>
            <p:nvPr/>
          </p:nvSpPr>
          <p:spPr>
            <a:xfrm>
              <a:off x="777240" y="1874520"/>
              <a:ext cx="2240280" cy="1664208"/>
            </a:xfrm>
            <a:prstGeom prst="roundRect">
              <a:avLst>
                <a:gd name="adj" fmla="val 3297"/>
              </a:avLst>
            </a:prstGeom>
            <a:solidFill>
              <a:srgbClr val="FFFFFF"/>
            </a:solidFill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15" name="Shape 8">
              <a:extLst>
                <a:ext uri="{FF2B5EF4-FFF2-40B4-BE49-F238E27FC236}">
                  <a16:creationId xmlns:a16="http://schemas.microsoft.com/office/drawing/2014/main" id="{FF4DFBF9-4F1C-F0CD-655A-0D7595D155B6}"/>
                </a:ext>
              </a:extLst>
            </p:cNvPr>
            <p:cNvSpPr/>
            <p:nvPr/>
          </p:nvSpPr>
          <p:spPr>
            <a:xfrm>
              <a:off x="1005840" y="2130552"/>
              <a:ext cx="109728" cy="109728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 w="9525">
              <a:solidFill>
                <a:srgbClr val="2563EB">
                  <a:alpha val="0"/>
                </a:srgbClr>
              </a:solidFill>
              <a:prstDash val="solid"/>
            </a:ln>
          </p:spPr>
        </p:sp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A3A24AFC-2F2B-FEF1-0A52-826AB765DB5C}"/>
                </a:ext>
              </a:extLst>
            </p:cNvPr>
            <p:cNvSpPr/>
            <p:nvPr/>
          </p:nvSpPr>
          <p:spPr>
            <a:xfrm>
              <a:off x="1170432" y="2093976"/>
              <a:ext cx="1463040" cy="20116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850" b="1" dirty="0">
                  <a:solidFill>
                    <a:srgbClr val="6B728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Language</a:t>
              </a:r>
              <a:endParaRPr lang="en-US" sz="850" dirty="0"/>
            </a:p>
          </p:txBody>
        </p:sp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D8714870-C2D1-2788-E383-1765C4BB3B36}"/>
                </a:ext>
              </a:extLst>
            </p:cNvPr>
            <p:cNvSpPr/>
            <p:nvPr/>
          </p:nvSpPr>
          <p:spPr>
            <a:xfrm>
              <a:off x="1033272" y="2514600"/>
              <a:ext cx="1737360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7202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Python</a:t>
              </a:r>
              <a:endParaRPr lang="en-US" sz="1500" dirty="0"/>
            </a:p>
            <a:p>
              <a:pPr marL="0" indent="0" algn="l">
                <a:buNone/>
              </a:pPr>
              <a:r>
                <a:rPr lang="en-US" sz="1500" b="1" dirty="0">
                  <a:solidFill>
                    <a:srgbClr val="17202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HTML / CSS</a:t>
              </a:r>
              <a:endParaRPr lang="en-US" sz="1500" dirty="0"/>
            </a:p>
          </p:txBody>
        </p:sp>
        <p:sp>
          <p:nvSpPr>
            <p:cNvPr id="18" name="Shape 11">
              <a:extLst>
                <a:ext uri="{FF2B5EF4-FFF2-40B4-BE49-F238E27FC236}">
                  <a16:creationId xmlns:a16="http://schemas.microsoft.com/office/drawing/2014/main" id="{DADEB1E7-8327-C669-75FA-7A0B53112239}"/>
                </a:ext>
              </a:extLst>
            </p:cNvPr>
            <p:cNvSpPr/>
            <p:nvPr/>
          </p:nvSpPr>
          <p:spPr>
            <a:xfrm>
              <a:off x="3566160" y="1874520"/>
              <a:ext cx="2240280" cy="1664208"/>
            </a:xfrm>
            <a:prstGeom prst="roundRect">
              <a:avLst>
                <a:gd name="adj" fmla="val 3297"/>
              </a:avLst>
            </a:prstGeom>
            <a:solidFill>
              <a:srgbClr val="FFFFFF"/>
            </a:solidFill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23" name="Shape 12">
              <a:extLst>
                <a:ext uri="{FF2B5EF4-FFF2-40B4-BE49-F238E27FC236}">
                  <a16:creationId xmlns:a16="http://schemas.microsoft.com/office/drawing/2014/main" id="{7061DC82-4C9C-9362-56E6-82495F10FD49}"/>
                </a:ext>
              </a:extLst>
            </p:cNvPr>
            <p:cNvSpPr/>
            <p:nvPr/>
          </p:nvSpPr>
          <p:spPr>
            <a:xfrm>
              <a:off x="3794760" y="2130552"/>
              <a:ext cx="109728" cy="109728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24" name="Text 13">
              <a:extLst>
                <a:ext uri="{FF2B5EF4-FFF2-40B4-BE49-F238E27FC236}">
                  <a16:creationId xmlns:a16="http://schemas.microsoft.com/office/drawing/2014/main" id="{D620A2D2-C48E-DF67-F0D4-ED1746076D86}"/>
                </a:ext>
              </a:extLst>
            </p:cNvPr>
            <p:cNvSpPr/>
            <p:nvPr/>
          </p:nvSpPr>
          <p:spPr>
            <a:xfrm>
              <a:off x="3959352" y="2093976"/>
              <a:ext cx="1463040" cy="20116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850" b="1" dirty="0">
                  <a:solidFill>
                    <a:srgbClr val="6B728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Framework</a:t>
              </a:r>
              <a:endParaRPr lang="en-US" sz="850" dirty="0"/>
            </a:p>
          </p:txBody>
        </p:sp>
        <p:sp>
          <p:nvSpPr>
            <p:cNvPr id="25" name="Text 14">
              <a:extLst>
                <a:ext uri="{FF2B5EF4-FFF2-40B4-BE49-F238E27FC236}">
                  <a16:creationId xmlns:a16="http://schemas.microsoft.com/office/drawing/2014/main" id="{21F2AF70-31F9-FB42-19C0-5211E42036C8}"/>
                </a:ext>
              </a:extLst>
            </p:cNvPr>
            <p:cNvSpPr/>
            <p:nvPr/>
          </p:nvSpPr>
          <p:spPr>
            <a:xfrm>
              <a:off x="3822192" y="2514600"/>
              <a:ext cx="1737360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7202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Django 5.2</a:t>
              </a:r>
              <a:endParaRPr lang="en-US" sz="1500" dirty="0"/>
            </a:p>
          </p:txBody>
        </p:sp>
        <p:sp>
          <p:nvSpPr>
            <p:cNvPr id="26" name="Shape 15">
              <a:extLst>
                <a:ext uri="{FF2B5EF4-FFF2-40B4-BE49-F238E27FC236}">
                  <a16:creationId xmlns:a16="http://schemas.microsoft.com/office/drawing/2014/main" id="{ED0B59BA-E078-31E4-1B1F-D062F11EC51D}"/>
                </a:ext>
              </a:extLst>
            </p:cNvPr>
            <p:cNvSpPr/>
            <p:nvPr/>
          </p:nvSpPr>
          <p:spPr>
            <a:xfrm>
              <a:off x="6355080" y="1874520"/>
              <a:ext cx="2240280" cy="1664208"/>
            </a:xfrm>
            <a:prstGeom prst="roundRect">
              <a:avLst>
                <a:gd name="adj" fmla="val 3297"/>
              </a:avLst>
            </a:prstGeom>
            <a:solidFill>
              <a:srgbClr val="FFFFFF"/>
            </a:solidFill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27" name="Shape 16">
              <a:extLst>
                <a:ext uri="{FF2B5EF4-FFF2-40B4-BE49-F238E27FC236}">
                  <a16:creationId xmlns:a16="http://schemas.microsoft.com/office/drawing/2014/main" id="{C6B5631D-FC10-0974-2790-64F26C524413}"/>
                </a:ext>
              </a:extLst>
            </p:cNvPr>
            <p:cNvSpPr/>
            <p:nvPr/>
          </p:nvSpPr>
          <p:spPr>
            <a:xfrm>
              <a:off x="6583680" y="2130552"/>
              <a:ext cx="109728" cy="109728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 w="9525">
              <a:solidFill>
                <a:srgbClr val="F59E0B">
                  <a:alpha val="0"/>
                </a:srgbClr>
              </a:solidFill>
              <a:prstDash val="solid"/>
            </a:ln>
          </p:spPr>
        </p:sp>
        <p:sp>
          <p:nvSpPr>
            <p:cNvPr id="28" name="Text 17">
              <a:extLst>
                <a:ext uri="{FF2B5EF4-FFF2-40B4-BE49-F238E27FC236}">
                  <a16:creationId xmlns:a16="http://schemas.microsoft.com/office/drawing/2014/main" id="{9CBEEAD2-FCAE-5F9B-DA4C-F979AC6340E0}"/>
                </a:ext>
              </a:extLst>
            </p:cNvPr>
            <p:cNvSpPr/>
            <p:nvPr/>
          </p:nvSpPr>
          <p:spPr>
            <a:xfrm>
              <a:off x="6748272" y="2093976"/>
              <a:ext cx="1463040" cy="20116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850" b="1" dirty="0">
                  <a:solidFill>
                    <a:srgbClr val="6B728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Database</a:t>
              </a:r>
              <a:endParaRPr lang="en-US" sz="850" dirty="0"/>
            </a:p>
          </p:txBody>
        </p:sp>
        <p:sp>
          <p:nvSpPr>
            <p:cNvPr id="33" name="Text 18">
              <a:extLst>
                <a:ext uri="{FF2B5EF4-FFF2-40B4-BE49-F238E27FC236}">
                  <a16:creationId xmlns:a16="http://schemas.microsoft.com/office/drawing/2014/main" id="{10174A7C-37F8-DF07-7442-D1307CF04E33}"/>
                </a:ext>
              </a:extLst>
            </p:cNvPr>
            <p:cNvSpPr/>
            <p:nvPr/>
          </p:nvSpPr>
          <p:spPr>
            <a:xfrm>
              <a:off x="6611112" y="2514600"/>
              <a:ext cx="1737360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7202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SQLite</a:t>
              </a:r>
              <a:endParaRPr lang="en-US" sz="1500" dirty="0"/>
            </a:p>
            <a:p>
              <a:pPr marL="0" indent="0" algn="l">
                <a:buNone/>
              </a:pPr>
              <a:r>
                <a:rPr lang="en-US" sz="1500" b="1" dirty="0">
                  <a:solidFill>
                    <a:srgbClr val="17202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ORM Models</a:t>
              </a:r>
              <a:endParaRPr lang="en-US" sz="1500" dirty="0"/>
            </a:p>
          </p:txBody>
        </p:sp>
        <p:sp>
          <p:nvSpPr>
            <p:cNvPr id="34" name="Shape 19">
              <a:extLst>
                <a:ext uri="{FF2B5EF4-FFF2-40B4-BE49-F238E27FC236}">
                  <a16:creationId xmlns:a16="http://schemas.microsoft.com/office/drawing/2014/main" id="{50D1D858-24A9-020B-7E3B-7B5C405D7B0B}"/>
                </a:ext>
              </a:extLst>
            </p:cNvPr>
            <p:cNvSpPr/>
            <p:nvPr/>
          </p:nvSpPr>
          <p:spPr>
            <a:xfrm>
              <a:off x="9144000" y="1874520"/>
              <a:ext cx="2240280" cy="1664208"/>
            </a:xfrm>
            <a:prstGeom prst="roundRect">
              <a:avLst>
                <a:gd name="adj" fmla="val 3297"/>
              </a:avLst>
            </a:prstGeom>
            <a:solidFill>
              <a:srgbClr val="FFFFFF"/>
            </a:solidFill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35" name="Shape 20">
              <a:extLst>
                <a:ext uri="{FF2B5EF4-FFF2-40B4-BE49-F238E27FC236}">
                  <a16:creationId xmlns:a16="http://schemas.microsoft.com/office/drawing/2014/main" id="{440EDA80-B89B-F827-60DA-78DA69899CBE}"/>
                </a:ext>
              </a:extLst>
            </p:cNvPr>
            <p:cNvSpPr/>
            <p:nvPr/>
          </p:nvSpPr>
          <p:spPr>
            <a:xfrm>
              <a:off x="9372600" y="2130552"/>
              <a:ext cx="109728" cy="109728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 w="9525">
              <a:solidFill>
                <a:srgbClr val="7C3AED">
                  <a:alpha val="0"/>
                </a:srgbClr>
              </a:solidFill>
              <a:prstDash val="solid"/>
            </a:ln>
          </p:spPr>
        </p:sp>
        <p:sp>
          <p:nvSpPr>
            <p:cNvPr id="36" name="Text 21">
              <a:extLst>
                <a:ext uri="{FF2B5EF4-FFF2-40B4-BE49-F238E27FC236}">
                  <a16:creationId xmlns:a16="http://schemas.microsoft.com/office/drawing/2014/main" id="{B150301E-0C3C-A353-F148-255F361B8562}"/>
                </a:ext>
              </a:extLst>
            </p:cNvPr>
            <p:cNvSpPr/>
            <p:nvPr/>
          </p:nvSpPr>
          <p:spPr>
            <a:xfrm>
              <a:off x="9537192" y="2093976"/>
              <a:ext cx="1463040" cy="20116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850" b="1" dirty="0">
                  <a:solidFill>
                    <a:srgbClr val="6B728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Tooling</a:t>
              </a:r>
              <a:endParaRPr lang="en-US" sz="850" dirty="0"/>
            </a:p>
          </p:txBody>
        </p:sp>
        <p:sp>
          <p:nvSpPr>
            <p:cNvPr id="37" name="Text 22">
              <a:extLst>
                <a:ext uri="{FF2B5EF4-FFF2-40B4-BE49-F238E27FC236}">
                  <a16:creationId xmlns:a16="http://schemas.microsoft.com/office/drawing/2014/main" id="{3E83038F-0636-E716-96E3-4AF2DCB445A5}"/>
                </a:ext>
              </a:extLst>
            </p:cNvPr>
            <p:cNvSpPr/>
            <p:nvPr/>
          </p:nvSpPr>
          <p:spPr>
            <a:xfrm>
              <a:off x="9400032" y="2514600"/>
              <a:ext cx="1737360" cy="84124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7202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VS Code / cursor</a:t>
              </a:r>
              <a:endParaRPr lang="en-US" sz="1500" dirty="0"/>
            </a:p>
            <a:p>
              <a:pPr marL="0" indent="0" algn="l">
                <a:buNone/>
              </a:pPr>
              <a:r>
                <a:rPr lang="en-US" sz="1500" b="1" dirty="0">
                  <a:solidFill>
                    <a:srgbClr val="17202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Git / GitHub</a:t>
              </a:r>
            </a:p>
            <a:p>
              <a:pPr marL="0" indent="0" algn="l">
                <a:buNone/>
              </a:pPr>
              <a:r>
                <a:rPr lang="en-US" sz="1500" b="1" dirty="0">
                  <a:solidFill>
                    <a:srgbClr val="17202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Figma</a:t>
              </a:r>
            </a:p>
            <a:p>
              <a:pPr marL="0" indent="0" algn="l">
                <a:buNone/>
              </a:pPr>
              <a:endParaRPr lang="en-US" sz="1500" dirty="0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F281578A-6FBB-5574-BF5C-F2252451546F}"/>
              </a:ext>
            </a:extLst>
          </p:cNvPr>
          <p:cNvGrpSpPr/>
          <p:nvPr/>
        </p:nvGrpSpPr>
        <p:grpSpPr>
          <a:xfrm>
            <a:off x="530352" y="402336"/>
            <a:ext cx="960120" cy="256032"/>
            <a:chOff x="530352" y="402336"/>
            <a:chExt cx="960120" cy="256032"/>
          </a:xfrm>
        </p:grpSpPr>
        <p:sp>
          <p:nvSpPr>
            <p:cNvPr id="43" name="Shape 0">
              <a:extLst>
                <a:ext uri="{FF2B5EF4-FFF2-40B4-BE49-F238E27FC236}">
                  <a16:creationId xmlns:a16="http://schemas.microsoft.com/office/drawing/2014/main" id="{F3178A51-B581-64B2-1523-8095CDC23EEA}"/>
                </a:ext>
              </a:extLst>
            </p:cNvPr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44" name="Text 1">
              <a:extLst>
                <a:ext uri="{FF2B5EF4-FFF2-40B4-BE49-F238E27FC236}">
                  <a16:creationId xmlns:a16="http://schemas.microsoft.com/office/drawing/2014/main" id="{9D719342-4588-C2F6-25EC-6F94AE7E94E8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8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개발 환경</a:t>
              </a:r>
              <a:endParaRPr lang="en-US" sz="850" dirty="0"/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32C8F104-993B-4540-47FC-73CABC42B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044" y="3087013"/>
            <a:ext cx="1012159" cy="1287518"/>
          </a:xfrm>
          <a:prstGeom prst="rect">
            <a:avLst/>
          </a:prstGeom>
        </p:spPr>
      </p:pic>
      <p:grpSp>
        <p:nvGrpSpPr>
          <p:cNvPr id="52" name="그룹 51">
            <a:extLst>
              <a:ext uri="{FF2B5EF4-FFF2-40B4-BE49-F238E27FC236}">
                <a16:creationId xmlns:a16="http://schemas.microsoft.com/office/drawing/2014/main" id="{40096C4D-D969-FEE7-CB6B-76C5AA8224A9}"/>
              </a:ext>
            </a:extLst>
          </p:cNvPr>
          <p:cNvGrpSpPr/>
          <p:nvPr/>
        </p:nvGrpSpPr>
        <p:grpSpPr>
          <a:xfrm>
            <a:off x="926256" y="3370632"/>
            <a:ext cx="1384770" cy="720000"/>
            <a:chOff x="926256" y="3370632"/>
            <a:chExt cx="1384770" cy="72000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D565A56-3D76-3FE6-6FB1-B9841FED6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34732" y="3374137"/>
              <a:ext cx="676294" cy="676294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0A104688-1940-3761-138D-30A27CDE3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6256" y="3370632"/>
              <a:ext cx="720000" cy="720000"/>
            </a:xfrm>
            <a:prstGeom prst="rect">
              <a:avLst/>
            </a:prstGeom>
          </p:spPr>
        </p:pic>
      </p:grpSp>
      <p:pic>
        <p:nvPicPr>
          <p:cNvPr id="41" name="그림 40">
            <a:extLst>
              <a:ext uri="{FF2B5EF4-FFF2-40B4-BE49-F238E27FC236}">
                <a16:creationId xmlns:a16="http://schemas.microsoft.com/office/drawing/2014/main" id="{E108E0EE-F741-A83B-56F1-2B4474D152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7066" y="3361387"/>
            <a:ext cx="687955" cy="687955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93E1A1A2-A8DD-AC68-05E8-F56647005A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3254" y="3314602"/>
            <a:ext cx="837598" cy="83759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38A6F109-814B-0923-7E80-EB812EF7DE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4229" y="4192000"/>
            <a:ext cx="720000" cy="720000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59D8C5CD-0479-4053-5803-9B4AFBD279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3016" y="4170376"/>
            <a:ext cx="720000" cy="7200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07C802E5-6DD9-020A-06C8-7BA055439EA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6538" y="3304107"/>
            <a:ext cx="802516" cy="802516"/>
          </a:xfrm>
          <a:prstGeom prst="rect">
            <a:avLst/>
          </a:prstGeom>
        </p:spPr>
      </p:pic>
      <p:grpSp>
        <p:nvGrpSpPr>
          <p:cNvPr id="48" name="그룹 47">
            <a:extLst>
              <a:ext uri="{FF2B5EF4-FFF2-40B4-BE49-F238E27FC236}">
                <a16:creationId xmlns:a16="http://schemas.microsoft.com/office/drawing/2014/main" id="{D9C8CBF1-C6D2-2CD9-E027-C286BD806577}"/>
              </a:ext>
            </a:extLst>
          </p:cNvPr>
          <p:cNvGrpSpPr/>
          <p:nvPr/>
        </p:nvGrpSpPr>
        <p:grpSpPr>
          <a:xfrm>
            <a:off x="530352" y="402336"/>
            <a:ext cx="1097280" cy="347472"/>
            <a:chOff x="530352" y="402336"/>
            <a:chExt cx="960120" cy="256032"/>
          </a:xfrm>
        </p:grpSpPr>
        <p:sp>
          <p:nvSpPr>
            <p:cNvPr id="49" name="Shape 0">
              <a:extLst>
                <a:ext uri="{FF2B5EF4-FFF2-40B4-BE49-F238E27FC236}">
                  <a16:creationId xmlns:a16="http://schemas.microsoft.com/office/drawing/2014/main" id="{5052449A-BA00-9E44-5697-154A03749160}"/>
                </a:ext>
              </a:extLst>
            </p:cNvPr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50" name="Text 1">
              <a:extLst>
                <a:ext uri="{FF2B5EF4-FFF2-40B4-BE49-F238E27FC236}">
                  <a16:creationId xmlns:a16="http://schemas.microsoft.com/office/drawing/2014/main" id="{BC40999F-2F5E-AF68-2359-780CF9B7C47B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개발환경</a:t>
              </a:r>
              <a:endParaRPr lang="en-US" sz="16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4A0BE7D5-66FC-EFF6-08B6-9A9ADE0660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26483" y="3370631"/>
            <a:ext cx="720001" cy="72000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BBD2EB3-C300-5690-60A5-65F78069038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33188" y="3197963"/>
            <a:ext cx="1028642" cy="102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394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3161D-172E-B986-1BAE-395C891E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C94970-CE23-FA45-2016-AE841E7503F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 w="9525">
            <a:solidFill>
              <a:srgbClr val="F7F8F6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5B406AA-8A1E-AC55-D523-2E289E53E288}"/>
              </a:ext>
            </a:extLst>
          </p:cNvPr>
          <p:cNvSpPr/>
          <p:nvPr/>
        </p:nvSpPr>
        <p:spPr>
          <a:xfrm>
            <a:off x="4114801" y="0"/>
            <a:ext cx="8083291" cy="6437376"/>
          </a:xfrm>
          <a:prstGeom prst="rect">
            <a:avLst/>
          </a:prstGeom>
          <a:solidFill>
            <a:srgbClr val="E8F2EE"/>
          </a:solidFill>
          <a:ln w="9525">
            <a:solidFill>
              <a:srgbClr val="E8F2EE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61EDD08-0C25-CDD3-8015-09AAABEA2C26}"/>
              </a:ext>
            </a:extLst>
          </p:cNvPr>
          <p:cNvSpPr/>
          <p:nvPr/>
        </p:nvSpPr>
        <p:spPr>
          <a:xfrm>
            <a:off x="3825554" y="429768"/>
            <a:ext cx="0" cy="557784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DD77408-63EC-CFD0-2BDE-68399232C46F}"/>
              </a:ext>
            </a:extLst>
          </p:cNvPr>
          <p:cNvSpPr/>
          <p:nvPr/>
        </p:nvSpPr>
        <p:spPr>
          <a:xfrm>
            <a:off x="530352" y="1341929"/>
            <a:ext cx="4937760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altLang="ko-KR" sz="3600" b="1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04 Diagrams</a:t>
            </a: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C60DA5A2-FDB7-F9EC-6FF1-9B430096F8E2}"/>
              </a:ext>
            </a:extLst>
          </p:cNvPr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2AAE6851-8E86-5EC8-5901-D18AACB1E0C9}"/>
              </a:ext>
            </a:extLst>
          </p:cNvPr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11A8DAB-A6A1-EA2E-CA91-F8816A67CA6B}"/>
              </a:ext>
            </a:extLst>
          </p:cNvPr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12432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34D1E3-3332-DA24-50FF-13D11AE34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373E431-B257-0181-BEFA-350C8A3857CF}"/>
              </a:ext>
            </a:extLst>
          </p:cNvPr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5C060C-373F-0692-2427-8C5ED6E2F5C7}"/>
              </a:ext>
            </a:extLst>
          </p:cNvPr>
          <p:cNvSpPr/>
          <p:nvPr/>
        </p:nvSpPr>
        <p:spPr>
          <a:xfrm>
            <a:off x="530352" y="749808"/>
            <a:ext cx="9418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endParaRPr lang="en-US" sz="21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E0DB7EF-0837-DECF-B0EE-BF71105D42E8}"/>
              </a:ext>
            </a:extLst>
          </p:cNvPr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81D708D-8F3C-FAAC-8F69-23D5573C3F08}"/>
              </a:ext>
            </a:extLst>
          </p:cNvPr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D69A993-905A-B616-9565-C1E068E290F2}"/>
              </a:ext>
            </a:extLst>
          </p:cNvPr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141532A-FF23-7B82-67AB-5189E42F5755}"/>
              </a:ext>
            </a:extLst>
          </p:cNvPr>
          <p:cNvGrpSpPr/>
          <p:nvPr/>
        </p:nvGrpSpPr>
        <p:grpSpPr>
          <a:xfrm>
            <a:off x="3404616" y="2031079"/>
            <a:ext cx="5382768" cy="2679192"/>
            <a:chOff x="3404616" y="1619599"/>
            <a:chExt cx="5382768" cy="2679192"/>
          </a:xfrm>
        </p:grpSpPr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5A01DD6D-72A0-D701-2B3C-8C5919336F08}"/>
                </a:ext>
              </a:extLst>
            </p:cNvPr>
            <p:cNvSpPr/>
            <p:nvPr/>
          </p:nvSpPr>
          <p:spPr>
            <a:xfrm>
              <a:off x="3404616" y="1619599"/>
              <a:ext cx="5382768" cy="713232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D4DDD8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8151B18D-2235-E775-EC25-AD02376204C3}"/>
                </a:ext>
              </a:extLst>
            </p:cNvPr>
            <p:cNvSpPr/>
            <p:nvPr/>
          </p:nvSpPr>
          <p:spPr>
            <a:xfrm>
              <a:off x="3569208" y="1775047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F766E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01</a:t>
              </a:r>
              <a:endParaRPr lang="en-US" sz="11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EB51D6B8-A393-B463-102C-A5C5293967B1}"/>
                </a:ext>
              </a:extLst>
            </p:cNvPr>
            <p:cNvSpPr/>
            <p:nvPr/>
          </p:nvSpPr>
          <p:spPr>
            <a:xfrm>
              <a:off x="4172712" y="1756759"/>
              <a:ext cx="0" cy="438912"/>
            </a:xfrm>
            <a:prstGeom prst="line">
              <a:avLst/>
            </a:prstGeom>
            <a:noFill/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51F4C8A0-667B-47F8-8706-7AFFC71AA59C}"/>
                </a:ext>
              </a:extLst>
            </p:cNvPr>
            <p:cNvSpPr/>
            <p:nvPr/>
          </p:nvSpPr>
          <p:spPr>
            <a:xfrm>
              <a:off x="3404616" y="2607151"/>
              <a:ext cx="5382768" cy="713232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155D917D-4E03-A3F2-7EDA-4E80355C470C}"/>
                </a:ext>
              </a:extLst>
            </p:cNvPr>
            <p:cNvSpPr/>
            <p:nvPr/>
          </p:nvSpPr>
          <p:spPr>
            <a:xfrm>
              <a:off x="3569208" y="2762599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F766E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02</a:t>
              </a:r>
              <a:endParaRPr lang="en-US" sz="11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7480FE6F-273D-9045-7903-BE6B3CEA9700}"/>
                </a:ext>
              </a:extLst>
            </p:cNvPr>
            <p:cNvSpPr/>
            <p:nvPr/>
          </p:nvSpPr>
          <p:spPr>
            <a:xfrm>
              <a:off x="4172712" y="2744311"/>
              <a:ext cx="0" cy="438912"/>
            </a:xfrm>
            <a:prstGeom prst="line">
              <a:avLst/>
            </a:prstGeom>
            <a:noFill/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3BBBFADC-B38E-BA6D-6261-4B2604D1470D}"/>
                </a:ext>
              </a:extLst>
            </p:cNvPr>
            <p:cNvSpPr/>
            <p:nvPr/>
          </p:nvSpPr>
          <p:spPr>
            <a:xfrm>
              <a:off x="4337304" y="1819221"/>
              <a:ext cx="2471269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r>
                <a:rPr lang="en-US" altLang="ko-KR" sz="1250" b="1" dirty="0">
                  <a:solidFill>
                    <a:srgbClr val="17202A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Use Case </a:t>
              </a:r>
              <a:r>
                <a:rPr lang="ko-KR" altLang="en-US" sz="1250" b="1" dirty="0">
                  <a:solidFill>
                    <a:srgbClr val="17202A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다이어그램</a:t>
              </a:r>
              <a:endParaRPr lang="en-US" sz="125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2C6FCE3C-9846-B6DF-927F-1A91D9BF3E3F}"/>
                </a:ext>
              </a:extLst>
            </p:cNvPr>
            <p:cNvSpPr/>
            <p:nvPr/>
          </p:nvSpPr>
          <p:spPr>
            <a:xfrm>
              <a:off x="3404616" y="3585559"/>
              <a:ext cx="5382768" cy="713232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8351C734-E8ED-7A29-28EE-62C0D3D80849}"/>
                </a:ext>
              </a:extLst>
            </p:cNvPr>
            <p:cNvSpPr/>
            <p:nvPr/>
          </p:nvSpPr>
          <p:spPr>
            <a:xfrm>
              <a:off x="3569208" y="3750151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F766E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  <a:cs typeface="Malgun Gothic" pitchFamily="34" charset="-120"/>
                </a:rPr>
                <a:t>03</a:t>
              </a:r>
              <a:endParaRPr lang="en-US" sz="11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31" name="Shape 29">
              <a:extLst>
                <a:ext uri="{FF2B5EF4-FFF2-40B4-BE49-F238E27FC236}">
                  <a16:creationId xmlns:a16="http://schemas.microsoft.com/office/drawing/2014/main" id="{3CBABC36-28F0-81C8-51A3-B40C31737CB0}"/>
                </a:ext>
              </a:extLst>
            </p:cNvPr>
            <p:cNvSpPr/>
            <p:nvPr/>
          </p:nvSpPr>
          <p:spPr>
            <a:xfrm>
              <a:off x="4172712" y="3731863"/>
              <a:ext cx="0" cy="438912"/>
            </a:xfrm>
            <a:prstGeom prst="line">
              <a:avLst/>
            </a:prstGeom>
            <a:noFill/>
            <a:ln w="9525">
              <a:solidFill>
                <a:srgbClr val="D4DDD8"/>
              </a:solidFill>
              <a:prstDash val="solid"/>
            </a:ln>
          </p:spPr>
        </p:sp>
        <p:sp>
          <p:nvSpPr>
            <p:cNvPr id="32" name="Text 30">
              <a:extLst>
                <a:ext uri="{FF2B5EF4-FFF2-40B4-BE49-F238E27FC236}">
                  <a16:creationId xmlns:a16="http://schemas.microsoft.com/office/drawing/2014/main" id="{841FE7B6-ECDA-52DF-5224-2B4EDE907709}"/>
                </a:ext>
              </a:extLst>
            </p:cNvPr>
            <p:cNvSpPr/>
            <p:nvPr/>
          </p:nvSpPr>
          <p:spPr>
            <a:xfrm>
              <a:off x="4337304" y="3713575"/>
              <a:ext cx="1508760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1250" b="1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시퀀스 다이어그램</a:t>
              </a:r>
              <a:endParaRPr lang="en-US" sz="1250" b="1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ED3E8669-4810-C10A-3F3B-94A01508FF43}"/>
                </a:ext>
              </a:extLst>
            </p:cNvPr>
            <p:cNvSpPr/>
            <p:nvPr/>
          </p:nvSpPr>
          <p:spPr>
            <a:xfrm>
              <a:off x="4337305" y="2853050"/>
              <a:ext cx="2471268" cy="2286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1250" b="1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엔티티 정의 다이어그램</a:t>
              </a:r>
              <a:r>
                <a:rPr lang="en-US" altLang="ko-KR" sz="1250" b="1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(ERD)</a:t>
              </a:r>
              <a:endParaRPr lang="en-US" sz="1250" b="1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740B2423-FB55-2B8E-19CF-3C2F77BABBDA}"/>
              </a:ext>
            </a:extLst>
          </p:cNvPr>
          <p:cNvGrpSpPr/>
          <p:nvPr/>
        </p:nvGrpSpPr>
        <p:grpSpPr>
          <a:xfrm>
            <a:off x="530352" y="402336"/>
            <a:ext cx="960120" cy="256032"/>
            <a:chOff x="530352" y="402336"/>
            <a:chExt cx="960120" cy="256032"/>
          </a:xfrm>
        </p:grpSpPr>
        <p:sp>
          <p:nvSpPr>
            <p:cNvPr id="5" name="Shape 0">
              <a:extLst>
                <a:ext uri="{FF2B5EF4-FFF2-40B4-BE49-F238E27FC236}">
                  <a16:creationId xmlns:a16="http://schemas.microsoft.com/office/drawing/2014/main" id="{3E09D7F5-ACE0-CF10-0871-718B1334E6D5}"/>
                </a:ext>
              </a:extLst>
            </p:cNvPr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13" name="Text 1">
              <a:extLst>
                <a:ext uri="{FF2B5EF4-FFF2-40B4-BE49-F238E27FC236}">
                  <a16:creationId xmlns:a16="http://schemas.microsoft.com/office/drawing/2014/main" id="{68EB73C1-EA5C-4847-453E-914DB35D0D7E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DIAGRAMS</a:t>
              </a:r>
              <a:endParaRPr lang="en-US" sz="85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7BE53-ADD7-42E3-903E-AE412FC391D3}"/>
              </a:ext>
            </a:extLst>
          </p:cNvPr>
          <p:cNvGrpSpPr/>
          <p:nvPr/>
        </p:nvGrpSpPr>
        <p:grpSpPr>
          <a:xfrm>
            <a:off x="530352" y="402336"/>
            <a:ext cx="1097280" cy="347472"/>
            <a:chOff x="530352" y="402336"/>
            <a:chExt cx="960120" cy="256032"/>
          </a:xfrm>
        </p:grpSpPr>
        <p:sp>
          <p:nvSpPr>
            <p:cNvPr id="16" name="Shape 0">
              <a:extLst>
                <a:ext uri="{FF2B5EF4-FFF2-40B4-BE49-F238E27FC236}">
                  <a16:creationId xmlns:a16="http://schemas.microsoft.com/office/drawing/2014/main" id="{73ED876D-CB14-DA46-4DAD-16ACDFAA289A}"/>
                </a:ext>
              </a:extLst>
            </p:cNvPr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17" name="Text 1">
              <a:extLst>
                <a:ext uri="{FF2B5EF4-FFF2-40B4-BE49-F238E27FC236}">
                  <a16:creationId xmlns:a16="http://schemas.microsoft.com/office/drawing/2014/main" id="{52A51718-217F-7DCF-0B09-5E21088A79C9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DIAGRAMS</a:t>
              </a:r>
              <a:endParaRPr lang="en-US" sz="14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3172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그림 47">
            <a:extLst>
              <a:ext uri="{FF2B5EF4-FFF2-40B4-BE49-F238E27FC236}">
                <a16:creationId xmlns:a16="http://schemas.microsoft.com/office/drawing/2014/main" id="{B26491D9-7F46-B023-4A09-B1E67EDFF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23" y="438912"/>
            <a:ext cx="11254154" cy="601675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530352" y="402336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 CASE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44ADEC3-6C54-0C5A-F166-5595AA8605C3}"/>
              </a:ext>
            </a:extLst>
          </p:cNvPr>
          <p:cNvGrpSpPr/>
          <p:nvPr/>
        </p:nvGrpSpPr>
        <p:grpSpPr>
          <a:xfrm>
            <a:off x="530352" y="402336"/>
            <a:ext cx="1097280" cy="347472"/>
            <a:chOff x="530352" y="402336"/>
            <a:chExt cx="960120" cy="256032"/>
          </a:xfrm>
        </p:grpSpPr>
        <p:sp>
          <p:nvSpPr>
            <p:cNvPr id="5" name="Shape 0">
              <a:extLst>
                <a:ext uri="{FF2B5EF4-FFF2-40B4-BE49-F238E27FC236}">
                  <a16:creationId xmlns:a16="http://schemas.microsoft.com/office/drawing/2014/main" id="{B08DDF2C-C781-181B-5374-98CDED2B039A}"/>
                </a:ext>
              </a:extLst>
            </p:cNvPr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9" name="Text 1">
              <a:extLst>
                <a:ext uri="{FF2B5EF4-FFF2-40B4-BE49-F238E27FC236}">
                  <a16:creationId xmlns:a16="http://schemas.microsoft.com/office/drawing/2014/main" id="{9834DD35-284A-F005-E604-5629D62E440C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USE CASE</a:t>
              </a:r>
              <a:endParaRPr lang="en-US" sz="14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071E1BFD-1BAD-1EC4-4ED0-5F32642CE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12" y="402336"/>
            <a:ext cx="11137392" cy="6035039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530352" y="402336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800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B3E8118-7FD0-1577-6563-C3E12F4E4580}"/>
              </a:ext>
            </a:extLst>
          </p:cNvPr>
          <p:cNvGrpSpPr/>
          <p:nvPr/>
        </p:nvGrpSpPr>
        <p:grpSpPr>
          <a:xfrm>
            <a:off x="530352" y="402336"/>
            <a:ext cx="1097280" cy="347472"/>
            <a:chOff x="530352" y="402336"/>
            <a:chExt cx="960120" cy="256032"/>
          </a:xfrm>
        </p:grpSpPr>
        <p:sp>
          <p:nvSpPr>
            <p:cNvPr id="11" name="Shape 0">
              <a:extLst>
                <a:ext uri="{FF2B5EF4-FFF2-40B4-BE49-F238E27FC236}">
                  <a16:creationId xmlns:a16="http://schemas.microsoft.com/office/drawing/2014/main" id="{7732A152-09C8-6422-9787-8CD2AF128C39}"/>
                </a:ext>
              </a:extLst>
            </p:cNvPr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12" name="Text 1">
              <a:extLst>
                <a:ext uri="{FF2B5EF4-FFF2-40B4-BE49-F238E27FC236}">
                  <a16:creationId xmlns:a16="http://schemas.microsoft.com/office/drawing/2014/main" id="{D08D072A-3537-4381-E041-01CD558E24EC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ERD</a:t>
              </a:r>
              <a:endParaRPr lang="en-US" sz="14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89D620F-F08C-C15D-9B10-50DF066E93FB}"/>
              </a:ext>
            </a:extLst>
          </p:cNvPr>
          <p:cNvSpPr txBox="1"/>
          <p:nvPr/>
        </p:nvSpPr>
        <p:spPr>
          <a:xfrm>
            <a:off x="6834753" y="4650434"/>
            <a:ext cx="2653290" cy="8697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질문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태그 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</a:rPr>
              <a:t>다대다 관계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질문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답변 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</a:rPr>
              <a:t>일대다 관계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DEED87-8A4C-6947-7BD9-1E9DC1014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5113124-1E11-4E21-E608-FB4E633818D3}"/>
              </a:ext>
            </a:extLst>
          </p:cNvPr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C83D685-80EC-B055-B175-F813C1779D05}"/>
              </a:ext>
            </a:extLst>
          </p:cNvPr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69DC8E0-06CF-5F0D-7323-AD9ADB4AC67A}"/>
              </a:ext>
            </a:extLst>
          </p:cNvPr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4B25128-F5F4-E281-BF07-B16C3C6F1DD0}"/>
              </a:ext>
            </a:extLst>
          </p:cNvPr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46621B22-83A0-84EF-B40E-55916B0FBFC5}"/>
              </a:ext>
            </a:extLst>
          </p:cNvPr>
          <p:cNvSpPr/>
          <p:nvPr/>
        </p:nvSpPr>
        <p:spPr>
          <a:xfrm>
            <a:off x="-1923288" y="4006183"/>
            <a:ext cx="0" cy="438912"/>
          </a:xfrm>
          <a:prstGeom prst="line">
            <a:avLst/>
          </a:prstGeom>
          <a:noFill/>
          <a:ln w="9525">
            <a:solidFill>
              <a:srgbClr val="D4DDD8"/>
            </a:solidFill>
            <a:prstDash val="solid"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685016D-53D1-266C-DE98-8F27CF9F4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812" y="475487"/>
            <a:ext cx="10199328" cy="6382513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B5F74761-7456-5502-EAAD-9DDBCE34BADC}"/>
              </a:ext>
            </a:extLst>
          </p:cNvPr>
          <p:cNvGrpSpPr/>
          <p:nvPr/>
        </p:nvGrpSpPr>
        <p:grpSpPr>
          <a:xfrm>
            <a:off x="530352" y="414796"/>
            <a:ext cx="960120" cy="256032"/>
            <a:chOff x="530352" y="414796"/>
            <a:chExt cx="960120" cy="256032"/>
          </a:xfrm>
        </p:grpSpPr>
        <p:sp>
          <p:nvSpPr>
            <p:cNvPr id="11" name="Shape 0">
              <a:extLst>
                <a:ext uri="{FF2B5EF4-FFF2-40B4-BE49-F238E27FC236}">
                  <a16:creationId xmlns:a16="http://schemas.microsoft.com/office/drawing/2014/main" id="{6F991E51-01F0-8FC9-2E2F-9732280D8AB9}"/>
                </a:ext>
              </a:extLst>
            </p:cNvPr>
            <p:cNvSpPr/>
            <p:nvPr/>
          </p:nvSpPr>
          <p:spPr>
            <a:xfrm>
              <a:off x="530352" y="41479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12" name="Text 1">
              <a:extLst>
                <a:ext uri="{FF2B5EF4-FFF2-40B4-BE49-F238E27FC236}">
                  <a16:creationId xmlns:a16="http://schemas.microsoft.com/office/drawing/2014/main" id="{4EF41AA3-AD80-590B-4F51-6DC58C769607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algn="ctr"/>
              <a:r>
                <a:rPr lang="en-US" sz="850" dirty="0">
                  <a:solidFill>
                    <a:schemeClr val="bg1"/>
                  </a:solidFill>
                </a:rPr>
                <a:t>Sequence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3D7F42D-8AB2-53DF-2D03-3E14D501F7E2}"/>
              </a:ext>
            </a:extLst>
          </p:cNvPr>
          <p:cNvGrpSpPr/>
          <p:nvPr/>
        </p:nvGrpSpPr>
        <p:grpSpPr>
          <a:xfrm>
            <a:off x="530352" y="402336"/>
            <a:ext cx="1097280" cy="347472"/>
            <a:chOff x="530352" y="402336"/>
            <a:chExt cx="960120" cy="256032"/>
          </a:xfrm>
        </p:grpSpPr>
        <p:sp>
          <p:nvSpPr>
            <p:cNvPr id="5" name="Shape 0">
              <a:extLst>
                <a:ext uri="{FF2B5EF4-FFF2-40B4-BE49-F238E27FC236}">
                  <a16:creationId xmlns:a16="http://schemas.microsoft.com/office/drawing/2014/main" id="{97ABFFDC-1AF5-C488-FCD3-35C6D90E5B8D}"/>
                </a:ext>
              </a:extLst>
            </p:cNvPr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9" name="Text 1">
              <a:extLst>
                <a:ext uri="{FF2B5EF4-FFF2-40B4-BE49-F238E27FC236}">
                  <a16:creationId xmlns:a16="http://schemas.microsoft.com/office/drawing/2014/main" id="{1ACEC8AB-2490-BC1F-6398-86C5BCC9AD58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altLang="ko-KR" sz="14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SEQUENCE</a:t>
              </a:r>
              <a:endParaRPr lang="en-US" sz="14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1131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7B4DD-BFF7-59B3-55C6-807D8D850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8A9722-1DA0-7A70-5879-D7EBB985D7E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 w="9525">
            <a:solidFill>
              <a:srgbClr val="F7F8F6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2D9CC76-2C31-EE0B-F236-6C9167511F65}"/>
              </a:ext>
            </a:extLst>
          </p:cNvPr>
          <p:cNvSpPr/>
          <p:nvPr/>
        </p:nvSpPr>
        <p:spPr>
          <a:xfrm>
            <a:off x="4114801" y="0"/>
            <a:ext cx="8083291" cy="6437376"/>
          </a:xfrm>
          <a:prstGeom prst="rect">
            <a:avLst/>
          </a:prstGeom>
          <a:solidFill>
            <a:srgbClr val="E8F2EE"/>
          </a:solidFill>
          <a:ln w="9525">
            <a:solidFill>
              <a:srgbClr val="E8F2EE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89BCEBB-703D-1218-6BF8-393BC08259F5}"/>
              </a:ext>
            </a:extLst>
          </p:cNvPr>
          <p:cNvSpPr/>
          <p:nvPr/>
        </p:nvSpPr>
        <p:spPr>
          <a:xfrm>
            <a:off x="3825554" y="429768"/>
            <a:ext cx="0" cy="557784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70D0484-CC46-2976-4213-EFBEF5372655}"/>
              </a:ext>
            </a:extLst>
          </p:cNvPr>
          <p:cNvSpPr/>
          <p:nvPr/>
        </p:nvSpPr>
        <p:spPr>
          <a:xfrm>
            <a:off x="530352" y="1341929"/>
            <a:ext cx="4937760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altLang="ko-KR" sz="3600" b="1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05 </a:t>
            </a:r>
            <a:r>
              <a:rPr lang="ko-KR" altLang="en-US" sz="3600" b="1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핵심 기능</a:t>
            </a:r>
            <a:endParaRPr lang="en-US" sz="3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70C5EA7E-4D4F-A8A1-BCE4-EAA70C0F4621}"/>
              </a:ext>
            </a:extLst>
          </p:cNvPr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00F15DA-21C0-ACCC-1C07-959804C48FFB}"/>
              </a:ext>
            </a:extLst>
          </p:cNvPr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B23F4A91-C422-D27C-01B1-5D27F6E764B3}"/>
              </a:ext>
            </a:extLst>
          </p:cNvPr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521175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FF2557-C2BF-2BE1-2759-80F59B506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615D34B-9271-6FFA-E9FA-18EB78BE1148}"/>
              </a:ext>
            </a:extLst>
          </p:cNvPr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AFC8428-D992-D2E5-E0CB-8479E69E6857}"/>
              </a:ext>
            </a:extLst>
          </p:cNvPr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F8599FC-6017-09E8-5E9C-DF9E7B1BF7FB}"/>
              </a:ext>
            </a:extLst>
          </p:cNvPr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1409424-409A-A89A-298E-3BCBED622D1D}"/>
              </a:ext>
            </a:extLst>
          </p:cNvPr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9BE2EE93-8313-9B90-1C8D-02D5C8716C89}"/>
              </a:ext>
            </a:extLst>
          </p:cNvPr>
          <p:cNvSpPr/>
          <p:nvPr/>
        </p:nvSpPr>
        <p:spPr>
          <a:xfrm>
            <a:off x="-1923288" y="4006183"/>
            <a:ext cx="0" cy="438912"/>
          </a:xfrm>
          <a:prstGeom prst="line">
            <a:avLst/>
          </a:prstGeom>
          <a:noFill/>
          <a:ln w="9525">
            <a:solidFill>
              <a:srgbClr val="D4DDD8"/>
            </a:solidFill>
            <a:prstDash val="solid"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B632F2B-4A68-77AC-2E3D-CD7E239820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34" t="15399" r="10029" b="12342"/>
          <a:stretch>
            <a:fillRect/>
          </a:stretch>
        </p:blipFill>
        <p:spPr>
          <a:xfrm>
            <a:off x="71134" y="822959"/>
            <a:ext cx="3697792" cy="380186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E4F5A4E-33E3-C7A2-5DA1-CB447FBB1E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856" t="12014" r="14226" b="11205"/>
          <a:stretch>
            <a:fillRect/>
          </a:stretch>
        </p:blipFill>
        <p:spPr>
          <a:xfrm>
            <a:off x="6061327" y="237258"/>
            <a:ext cx="3697792" cy="4973262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D90F1A73-2915-74AB-A86B-08563854F51C}"/>
              </a:ext>
            </a:extLst>
          </p:cNvPr>
          <p:cNvGrpSpPr/>
          <p:nvPr/>
        </p:nvGrpSpPr>
        <p:grpSpPr>
          <a:xfrm>
            <a:off x="530352" y="414796"/>
            <a:ext cx="960120" cy="256032"/>
            <a:chOff x="530352" y="414796"/>
            <a:chExt cx="960120" cy="256032"/>
          </a:xfrm>
        </p:grpSpPr>
        <p:sp>
          <p:nvSpPr>
            <p:cNvPr id="11" name="Shape 0">
              <a:extLst>
                <a:ext uri="{FF2B5EF4-FFF2-40B4-BE49-F238E27FC236}">
                  <a16:creationId xmlns:a16="http://schemas.microsoft.com/office/drawing/2014/main" id="{4953A369-F398-5D1E-8D1C-0BD22DE288C1}"/>
                </a:ext>
              </a:extLst>
            </p:cNvPr>
            <p:cNvSpPr/>
            <p:nvPr/>
          </p:nvSpPr>
          <p:spPr>
            <a:xfrm>
              <a:off x="530352" y="41479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12" name="Text 1">
              <a:extLst>
                <a:ext uri="{FF2B5EF4-FFF2-40B4-BE49-F238E27FC236}">
                  <a16:creationId xmlns:a16="http://schemas.microsoft.com/office/drawing/2014/main" id="{0FF98A1E-7400-8850-705E-6A5D75CC35C9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850" dirty="0">
                  <a:solidFill>
                    <a:schemeClr val="bg1"/>
                  </a:solidFill>
                </a:rPr>
                <a:t>로그인</a:t>
              </a:r>
              <a:r>
                <a:rPr lang="en-US" altLang="ko-KR" sz="850" dirty="0">
                  <a:solidFill>
                    <a:schemeClr val="bg1"/>
                  </a:solidFill>
                </a:rPr>
                <a:t>/</a:t>
              </a:r>
              <a:r>
                <a:rPr lang="ko-KR" altLang="en-US" sz="850" dirty="0">
                  <a:solidFill>
                    <a:schemeClr val="bg1"/>
                  </a:solidFill>
                </a:rPr>
                <a:t>회원가입</a:t>
              </a:r>
              <a:endParaRPr lang="en-US" sz="8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98948BAE-D46B-AAE0-4D1D-AAA5C70AD30F}"/>
              </a:ext>
            </a:extLst>
          </p:cNvPr>
          <p:cNvGrpSpPr/>
          <p:nvPr/>
        </p:nvGrpSpPr>
        <p:grpSpPr>
          <a:xfrm>
            <a:off x="530352" y="402336"/>
            <a:ext cx="1097280" cy="347472"/>
            <a:chOff x="530352" y="402336"/>
            <a:chExt cx="960120" cy="256032"/>
          </a:xfrm>
        </p:grpSpPr>
        <p:sp>
          <p:nvSpPr>
            <p:cNvPr id="5" name="Shape 0">
              <a:extLst>
                <a:ext uri="{FF2B5EF4-FFF2-40B4-BE49-F238E27FC236}">
                  <a16:creationId xmlns:a16="http://schemas.microsoft.com/office/drawing/2014/main" id="{BBDA3511-9356-4A3C-EDD1-0114F8CA916E}"/>
                </a:ext>
              </a:extLst>
            </p:cNvPr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13" name="Text 1">
              <a:extLst>
                <a:ext uri="{FF2B5EF4-FFF2-40B4-BE49-F238E27FC236}">
                  <a16:creationId xmlns:a16="http://schemas.microsoft.com/office/drawing/2014/main" id="{F8FD444C-FA2F-860A-FF6D-681CE15DECE8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ko-KR" altLang="en-US" sz="12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로그인 회원가입</a:t>
              </a:r>
              <a:endParaRPr lang="en-US" sz="12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C48C8132-6AFF-EFEE-CB54-3FC83B2633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19" y="4714253"/>
            <a:ext cx="4798296" cy="127917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8DCF229-A9C5-56F4-8351-666C23595DE6}"/>
              </a:ext>
            </a:extLst>
          </p:cNvPr>
          <p:cNvSpPr txBox="1"/>
          <p:nvPr/>
        </p:nvSpPr>
        <p:spPr>
          <a:xfrm>
            <a:off x="3542371" y="3291813"/>
            <a:ext cx="27793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 err="1"/>
              <a:t>Django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AuthenticationForm을</a:t>
            </a:r>
            <a:r>
              <a:rPr lang="ko-KR" altLang="ko-KR" sz="1400" dirty="0"/>
              <a:t> 이용해 사용자 인증을 처리</a:t>
            </a:r>
            <a:r>
              <a:rPr lang="en-US" altLang="ko-KR" sz="1400" dirty="0"/>
              <a:t> -&gt; Form</a:t>
            </a:r>
            <a:r>
              <a:rPr lang="ko-KR" altLang="en-US" sz="1400" dirty="0"/>
              <a:t>에 맞는 형식으로</a:t>
            </a:r>
            <a:r>
              <a:rPr lang="ko-KR" altLang="ko-KR" sz="1400" dirty="0"/>
              <a:t> 로그인 성공 시 세션을 생성한 뒤 원래 요청 페이지</a:t>
            </a:r>
            <a:r>
              <a:rPr lang="en-US" altLang="ko-KR" sz="1400" dirty="0"/>
              <a:t>/</a:t>
            </a:r>
            <a:r>
              <a:rPr lang="ko-KR" altLang="ko-KR" sz="1400" dirty="0"/>
              <a:t>홈 화면으로 이동</a:t>
            </a:r>
            <a:endParaRPr lang="ko-KR" altLang="en-US" sz="14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6073181-79E7-BC86-3A43-28EBE9C34C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9878" y="4664427"/>
            <a:ext cx="5064451" cy="17546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5B73A6B-CC4F-50D1-F320-82AD1B4F65E2}"/>
              </a:ext>
            </a:extLst>
          </p:cNvPr>
          <p:cNvSpPr txBox="1"/>
          <p:nvPr/>
        </p:nvSpPr>
        <p:spPr>
          <a:xfrm>
            <a:off x="9480035" y="3291813"/>
            <a:ext cx="27793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/>
              <a:t>사용자 정보를 검증한 뒤 계정을 생성하고, </a:t>
            </a:r>
            <a:r>
              <a:rPr lang="ko-KR" altLang="ko-KR" sz="1400" dirty="0" err="1"/>
              <a:t>학생·강사</a:t>
            </a:r>
            <a:r>
              <a:rPr lang="ko-KR" altLang="ko-KR" sz="1400" dirty="0"/>
              <a:t> 역할을 부여하여 각 </a:t>
            </a:r>
            <a:r>
              <a:rPr lang="en-US" altLang="ko-KR" sz="1400" dirty="0" err="1"/>
              <a:t>role_filter</a:t>
            </a:r>
            <a:r>
              <a:rPr lang="ko-KR" altLang="ko-KR" sz="1400" dirty="0"/>
              <a:t>에 맞는 화면으로 자동 연결되도록 구현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60259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AB4CB9-B658-3808-A97A-C0B594004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7264E48-2791-9478-D591-834EE9C515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46" t="1544" r="27866" b="26448"/>
          <a:stretch>
            <a:fillRect/>
          </a:stretch>
        </p:blipFill>
        <p:spPr>
          <a:xfrm>
            <a:off x="295221" y="451975"/>
            <a:ext cx="6292798" cy="5479432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F48654BB-0178-C20B-F67A-1FE5F4E67AD2}"/>
              </a:ext>
            </a:extLst>
          </p:cNvPr>
          <p:cNvSpPr/>
          <p:nvPr/>
        </p:nvSpPr>
        <p:spPr>
          <a:xfrm>
            <a:off x="530352" y="749808"/>
            <a:ext cx="9418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endParaRPr lang="en-US" sz="21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C98CF28-B69C-0140-8C73-824DC0C67220}"/>
              </a:ext>
            </a:extLst>
          </p:cNvPr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B91221C-46A9-07F9-B241-FD8D2448550D}"/>
              </a:ext>
            </a:extLst>
          </p:cNvPr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DA2F8EA-DBFE-DCE9-0621-A8D0CC9CD29A}"/>
              </a:ext>
            </a:extLst>
          </p:cNvPr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C0A78078-D3AC-666E-D53F-0A95F38FD34A}"/>
              </a:ext>
            </a:extLst>
          </p:cNvPr>
          <p:cNvSpPr/>
          <p:nvPr/>
        </p:nvSpPr>
        <p:spPr>
          <a:xfrm>
            <a:off x="-1923288" y="4006183"/>
            <a:ext cx="0" cy="438912"/>
          </a:xfrm>
          <a:prstGeom prst="line">
            <a:avLst/>
          </a:prstGeom>
          <a:noFill/>
          <a:ln w="9525">
            <a:solidFill>
              <a:srgbClr val="D4DDD8"/>
            </a:solidFill>
            <a:prstDash val="solid"/>
          </a:ln>
        </p:spPr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7CB0F30-C0C3-318B-9601-6C14244F31C9}"/>
              </a:ext>
            </a:extLst>
          </p:cNvPr>
          <p:cNvGrpSpPr/>
          <p:nvPr/>
        </p:nvGrpSpPr>
        <p:grpSpPr>
          <a:xfrm>
            <a:off x="530352" y="414796"/>
            <a:ext cx="960120" cy="256032"/>
            <a:chOff x="530352" y="414796"/>
            <a:chExt cx="960120" cy="256032"/>
          </a:xfrm>
        </p:grpSpPr>
        <p:sp>
          <p:nvSpPr>
            <p:cNvPr id="10" name="Shape 0">
              <a:extLst>
                <a:ext uri="{FF2B5EF4-FFF2-40B4-BE49-F238E27FC236}">
                  <a16:creationId xmlns:a16="http://schemas.microsoft.com/office/drawing/2014/main" id="{9D4D79B9-AADE-227E-AA5C-921E06F1141F}"/>
                </a:ext>
              </a:extLst>
            </p:cNvPr>
            <p:cNvSpPr/>
            <p:nvPr/>
          </p:nvSpPr>
          <p:spPr>
            <a:xfrm>
              <a:off x="530352" y="41479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B393DF13-A365-BDF5-59A8-91D1BD9C49D0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8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질문게시판</a:t>
              </a:r>
              <a:endParaRPr lang="en-US" sz="850" dirty="0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5025EAE7-2F89-768B-FB0E-E493C561A690}"/>
              </a:ext>
            </a:extLst>
          </p:cNvPr>
          <p:cNvGrpSpPr/>
          <p:nvPr/>
        </p:nvGrpSpPr>
        <p:grpSpPr>
          <a:xfrm>
            <a:off x="530352" y="402336"/>
            <a:ext cx="1097280" cy="347472"/>
            <a:chOff x="530352" y="402336"/>
            <a:chExt cx="960120" cy="256032"/>
          </a:xfrm>
        </p:grpSpPr>
        <p:sp>
          <p:nvSpPr>
            <p:cNvPr id="5" name="Shape 0">
              <a:extLst>
                <a:ext uri="{FF2B5EF4-FFF2-40B4-BE49-F238E27FC236}">
                  <a16:creationId xmlns:a16="http://schemas.microsoft.com/office/drawing/2014/main" id="{ACA7C278-06ED-6C0B-72E5-03DAED700F5B}"/>
                </a:ext>
              </a:extLst>
            </p:cNvPr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12" name="Text 1">
              <a:extLst>
                <a:ext uri="{FF2B5EF4-FFF2-40B4-BE49-F238E27FC236}">
                  <a16:creationId xmlns:a16="http://schemas.microsoft.com/office/drawing/2014/main" id="{82C50111-A163-FAAF-9946-ABE4D29EBAE6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ko-KR" altLang="en-US" sz="14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질문게시판</a:t>
              </a:r>
              <a:endParaRPr lang="en-US" sz="14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7575CABA-B0A9-E355-C804-CCA76E6E01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617" y="915484"/>
            <a:ext cx="5182812" cy="281636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8FEEE6-6C76-8798-8F18-313452CC3E3F}"/>
              </a:ext>
            </a:extLst>
          </p:cNvPr>
          <p:cNvSpPr txBox="1"/>
          <p:nvPr/>
        </p:nvSpPr>
        <p:spPr>
          <a:xfrm>
            <a:off x="6696891" y="3918857"/>
            <a:ext cx="50882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ko-KR" dirty="0"/>
              <a:t>질문 목록을 가져온 뒤 </a:t>
            </a:r>
            <a:r>
              <a:rPr lang="ko-KR" altLang="en-US" dirty="0"/>
              <a:t>내 </a:t>
            </a:r>
            <a:r>
              <a:rPr lang="ko-KR" altLang="en-US" dirty="0" err="1"/>
              <a:t>질문</a:t>
            </a:r>
            <a:r>
              <a:rPr lang="ko-KR" altLang="ko-KR" dirty="0" err="1"/>
              <a:t>·</a:t>
            </a:r>
            <a:r>
              <a:rPr lang="ko-KR" altLang="en-US" dirty="0" err="1"/>
              <a:t>검색</a:t>
            </a:r>
            <a:r>
              <a:rPr lang="ko-KR" altLang="ko-KR" dirty="0" err="1"/>
              <a:t>·</a:t>
            </a:r>
            <a:r>
              <a:rPr lang="ko-KR" altLang="en-US" dirty="0" err="1"/>
              <a:t>태그</a:t>
            </a:r>
            <a:r>
              <a:rPr lang="ko-KR" altLang="ko-KR" dirty="0" err="1"/>
              <a:t>·정렬</a:t>
            </a:r>
            <a:r>
              <a:rPr lang="ko-KR" altLang="ko-KR" dirty="0"/>
              <a:t> 조건을 적용 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ko-KR" dirty="0"/>
              <a:t>페이지 단위로 나누어 게시판 화면에 전달하도록 구현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A85CBC1-F942-97DB-F80A-26350AA7B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7893" y="4829752"/>
            <a:ext cx="2838995" cy="160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437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873E51-3BD8-A8AB-FBBE-C55872DA6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8A9F9C4-2031-1C18-4C37-ADC20E551D7D}"/>
              </a:ext>
            </a:extLst>
          </p:cNvPr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1F5FE87-1583-7F16-1CE5-A7DD05554F80}"/>
              </a:ext>
            </a:extLst>
          </p:cNvPr>
          <p:cNvSpPr/>
          <p:nvPr/>
        </p:nvSpPr>
        <p:spPr>
          <a:xfrm>
            <a:off x="530352" y="749808"/>
            <a:ext cx="9418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endParaRPr lang="en-US" sz="21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21CD0D2-7ED5-2894-524E-1D8AE37D51CC}"/>
              </a:ext>
            </a:extLst>
          </p:cNvPr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D302808-778D-1391-152E-A2979902976C}"/>
              </a:ext>
            </a:extLst>
          </p:cNvPr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A9762E4-447D-7DBE-1747-0B022C841A7A}"/>
              </a:ext>
            </a:extLst>
          </p:cNvPr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F394E796-F21A-1234-B4F4-E9913B00EC87}"/>
              </a:ext>
            </a:extLst>
          </p:cNvPr>
          <p:cNvSpPr/>
          <p:nvPr/>
        </p:nvSpPr>
        <p:spPr>
          <a:xfrm>
            <a:off x="-1923288" y="4006183"/>
            <a:ext cx="0" cy="438912"/>
          </a:xfrm>
          <a:prstGeom prst="line">
            <a:avLst/>
          </a:prstGeom>
          <a:noFill/>
          <a:ln w="9525">
            <a:solidFill>
              <a:srgbClr val="D4DDD8"/>
            </a:solidFill>
            <a:prstDash val="solid"/>
          </a:ln>
        </p:spPr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25FE85D-A7AB-E302-6C59-EA17ECB2AB40}"/>
              </a:ext>
            </a:extLst>
          </p:cNvPr>
          <p:cNvGrpSpPr/>
          <p:nvPr/>
        </p:nvGrpSpPr>
        <p:grpSpPr>
          <a:xfrm>
            <a:off x="530352" y="420623"/>
            <a:ext cx="960120" cy="256032"/>
            <a:chOff x="530352" y="420623"/>
            <a:chExt cx="960120" cy="256032"/>
          </a:xfrm>
        </p:grpSpPr>
        <p:sp>
          <p:nvSpPr>
            <p:cNvPr id="10" name="Shape 0">
              <a:extLst>
                <a:ext uri="{FF2B5EF4-FFF2-40B4-BE49-F238E27FC236}">
                  <a16:creationId xmlns:a16="http://schemas.microsoft.com/office/drawing/2014/main" id="{C126D607-F051-3AE2-DA8F-7A7A350D9384}"/>
                </a:ext>
              </a:extLst>
            </p:cNvPr>
            <p:cNvSpPr/>
            <p:nvPr/>
          </p:nvSpPr>
          <p:spPr>
            <a:xfrm>
              <a:off x="530352" y="420623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11" name="Text 1">
              <a:extLst>
                <a:ext uri="{FF2B5EF4-FFF2-40B4-BE49-F238E27FC236}">
                  <a16:creationId xmlns:a16="http://schemas.microsoft.com/office/drawing/2014/main" id="{96FFF446-C187-D53E-D145-F2EB68420FC4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8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질문하기</a:t>
              </a:r>
              <a:endParaRPr lang="en-US" sz="850" dirty="0"/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B67FB740-0F3A-4EE2-C901-01E34EFDC0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25"/>
          <a:stretch>
            <a:fillRect/>
          </a:stretch>
        </p:blipFill>
        <p:spPr>
          <a:xfrm>
            <a:off x="530352" y="402336"/>
            <a:ext cx="5305320" cy="5575227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CC789B07-89DF-57EC-337C-EA50FAE81D27}"/>
              </a:ext>
            </a:extLst>
          </p:cNvPr>
          <p:cNvGrpSpPr/>
          <p:nvPr/>
        </p:nvGrpSpPr>
        <p:grpSpPr>
          <a:xfrm>
            <a:off x="530352" y="402336"/>
            <a:ext cx="1097280" cy="347472"/>
            <a:chOff x="530352" y="402336"/>
            <a:chExt cx="960120" cy="256032"/>
          </a:xfrm>
        </p:grpSpPr>
        <p:sp>
          <p:nvSpPr>
            <p:cNvPr id="5" name="Shape 0">
              <a:extLst>
                <a:ext uri="{FF2B5EF4-FFF2-40B4-BE49-F238E27FC236}">
                  <a16:creationId xmlns:a16="http://schemas.microsoft.com/office/drawing/2014/main" id="{E9243FB5-F10A-C51B-1006-63DF40C3DEA6}"/>
                </a:ext>
              </a:extLst>
            </p:cNvPr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12" name="Text 1">
              <a:extLst>
                <a:ext uri="{FF2B5EF4-FFF2-40B4-BE49-F238E27FC236}">
                  <a16:creationId xmlns:a16="http://schemas.microsoft.com/office/drawing/2014/main" id="{71999734-2E13-7025-48F3-07C8E81ED04D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ko-KR" altLang="en-US" sz="14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질문하기</a:t>
              </a:r>
              <a:endParaRPr lang="en-US" sz="14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6F8F013-88A4-C27C-39A0-6E5E0ACBF781}"/>
              </a:ext>
            </a:extLst>
          </p:cNvPr>
          <p:cNvSpPr txBox="1"/>
          <p:nvPr/>
        </p:nvSpPr>
        <p:spPr>
          <a:xfrm>
            <a:off x="5700659" y="4563027"/>
            <a:ext cx="6096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ko-KR" dirty="0" err="1"/>
              <a:t>Django의</a:t>
            </a:r>
            <a:r>
              <a:rPr lang="ko-KR" altLang="ko-KR" dirty="0"/>
              <a:t> </a:t>
            </a:r>
            <a:r>
              <a:rPr lang="ko-KR" altLang="ko-KR" dirty="0" err="1"/>
              <a:t>CreateView를</a:t>
            </a:r>
            <a:r>
              <a:rPr lang="ko-KR" altLang="ko-KR" dirty="0"/>
              <a:t> 활용한 클래스 기반 뷰로 구현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ko-KR" dirty="0"/>
              <a:t>로그인한 사용자만 질문을 작성할 수 있도록 제한하고, </a:t>
            </a:r>
            <a:r>
              <a:rPr lang="ko-KR" altLang="ko-KR" dirty="0" err="1"/>
              <a:t>제목·내용·태그·익명</a:t>
            </a:r>
            <a:r>
              <a:rPr lang="ko-KR" altLang="ko-KR" dirty="0"/>
              <a:t> 여부를 </a:t>
            </a:r>
            <a:r>
              <a:rPr lang="ko-KR" altLang="ko-KR" dirty="0" err="1"/>
              <a:t>입력받아</a:t>
            </a:r>
            <a:r>
              <a:rPr lang="ko-KR" altLang="ko-KR" dirty="0"/>
              <a:t> 검증 후 질문을 등록하도록 구현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E788BD3-DFDB-8C9B-96B1-B0B1237CF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245" y="1094644"/>
            <a:ext cx="5668829" cy="313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607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82F6B49-2EC8-94CA-7411-101B03E6F3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222"/>
          <a:stretch>
            <a:fillRect/>
          </a:stretch>
        </p:blipFill>
        <p:spPr>
          <a:xfrm>
            <a:off x="613954" y="799447"/>
            <a:ext cx="6164336" cy="3920599"/>
          </a:xfrm>
          <a:prstGeom prst="rect">
            <a:avLst/>
          </a:prstGeom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69CC6536-5D68-6727-EEEF-FB57BAB48D06}"/>
              </a:ext>
            </a:extLst>
          </p:cNvPr>
          <p:cNvSpPr/>
          <p:nvPr/>
        </p:nvSpPr>
        <p:spPr>
          <a:xfrm>
            <a:off x="1015656" y="2117658"/>
            <a:ext cx="386427" cy="303326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56F0D35-E03F-4284-23D3-4E19E81E105B}"/>
              </a:ext>
            </a:extLst>
          </p:cNvPr>
          <p:cNvGrpSpPr/>
          <p:nvPr/>
        </p:nvGrpSpPr>
        <p:grpSpPr>
          <a:xfrm>
            <a:off x="530352" y="402336"/>
            <a:ext cx="1097280" cy="347472"/>
            <a:chOff x="530352" y="402336"/>
            <a:chExt cx="960120" cy="256032"/>
          </a:xfrm>
        </p:grpSpPr>
        <p:sp>
          <p:nvSpPr>
            <p:cNvPr id="5" name="Shape 0">
              <a:extLst>
                <a:ext uri="{FF2B5EF4-FFF2-40B4-BE49-F238E27FC236}">
                  <a16:creationId xmlns:a16="http://schemas.microsoft.com/office/drawing/2014/main" id="{9DAB0C3D-64F2-1DD4-E301-C9069D8595B1}"/>
                </a:ext>
              </a:extLst>
            </p:cNvPr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6" name="Text 1">
              <a:extLst>
                <a:ext uri="{FF2B5EF4-FFF2-40B4-BE49-F238E27FC236}">
                  <a16:creationId xmlns:a16="http://schemas.microsoft.com/office/drawing/2014/main" id="{83BE3E84-DEAD-CFF3-BC46-35B5CC416418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ko-KR" altLang="en-US" sz="14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익명처리 </a:t>
              </a:r>
              <a:endParaRPr lang="en-US" sz="14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5F0AA595-70C4-33B2-0FAB-38B402BB6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595" y="824267"/>
            <a:ext cx="5098451" cy="149493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AA97CD3-E1F1-001B-83A1-A1374C216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595" y="2368842"/>
            <a:ext cx="5300229" cy="14949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CB7619-2A6F-4FF1-68EE-D360E1F696F6}"/>
              </a:ext>
            </a:extLst>
          </p:cNvPr>
          <p:cNvSpPr txBox="1"/>
          <p:nvPr/>
        </p:nvSpPr>
        <p:spPr>
          <a:xfrm>
            <a:off x="6479595" y="4249783"/>
            <a:ext cx="5300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is_anonymous</a:t>
            </a:r>
            <a:r>
              <a:rPr lang="en-US" altLang="ko-KR" dirty="0"/>
              <a:t>(Boolean)</a:t>
            </a:r>
            <a:r>
              <a:rPr lang="ko-KR" altLang="en-US" dirty="0"/>
              <a:t>로 질문 작성 단계에서 익명을 </a:t>
            </a:r>
            <a:r>
              <a:rPr lang="ko-KR" altLang="en-US" dirty="0" err="1"/>
              <a:t>토글</a:t>
            </a:r>
            <a:r>
              <a:rPr lang="ko-KR" altLang="en-US" dirty="0"/>
              <a:t> 형식으로 선택할 수 있게 구현</a:t>
            </a:r>
          </a:p>
        </p:txBody>
      </p:sp>
    </p:spTree>
    <p:extLst>
      <p:ext uri="{BB962C8B-B14F-4D97-AF65-F5344CB8AC3E}">
        <p14:creationId xmlns:p14="http://schemas.microsoft.com/office/powerpoint/2010/main" val="1088052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F47EF6-5735-34B6-D2DC-1ABC3A2BA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5FEEC32-F042-21E6-6C70-62B58BFBA3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451" b="28157"/>
          <a:stretch>
            <a:fillRect/>
          </a:stretch>
        </p:blipFill>
        <p:spPr>
          <a:xfrm>
            <a:off x="368495" y="1392781"/>
            <a:ext cx="5496449" cy="3642769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52140B83-E575-98E2-F454-9E73F9B6CD41}"/>
              </a:ext>
            </a:extLst>
          </p:cNvPr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CCFA63F-28F3-940D-51F3-19777B1449B2}"/>
              </a:ext>
            </a:extLst>
          </p:cNvPr>
          <p:cNvSpPr/>
          <p:nvPr/>
        </p:nvSpPr>
        <p:spPr>
          <a:xfrm>
            <a:off x="530352" y="749808"/>
            <a:ext cx="9418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endParaRPr lang="en-US" sz="21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83471C9-E3CC-0324-8BE0-C21E40C48002}"/>
              </a:ext>
            </a:extLst>
          </p:cNvPr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3890A76-380A-8265-3BD3-33494C8470DD}"/>
              </a:ext>
            </a:extLst>
          </p:cNvPr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53EFA7D-F49B-15EE-159F-95620A8445F6}"/>
              </a:ext>
            </a:extLst>
          </p:cNvPr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0A17F4F5-8027-9F2F-997C-13CA1DB3E050}"/>
              </a:ext>
            </a:extLst>
          </p:cNvPr>
          <p:cNvSpPr/>
          <p:nvPr/>
        </p:nvSpPr>
        <p:spPr>
          <a:xfrm>
            <a:off x="-1923288" y="4006183"/>
            <a:ext cx="0" cy="438912"/>
          </a:xfrm>
          <a:prstGeom prst="line">
            <a:avLst/>
          </a:prstGeom>
          <a:noFill/>
          <a:ln w="9525">
            <a:solidFill>
              <a:srgbClr val="D4DDD8"/>
            </a:solidFill>
            <a:prstDash val="solid"/>
          </a:ln>
        </p:spPr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0D70303-6A81-0F9A-AFB3-608A50BA890A}"/>
              </a:ext>
            </a:extLst>
          </p:cNvPr>
          <p:cNvGrpSpPr/>
          <p:nvPr/>
        </p:nvGrpSpPr>
        <p:grpSpPr>
          <a:xfrm>
            <a:off x="530352" y="414796"/>
            <a:ext cx="960120" cy="256032"/>
            <a:chOff x="530352" y="414796"/>
            <a:chExt cx="960120" cy="256032"/>
          </a:xfrm>
        </p:grpSpPr>
        <p:sp>
          <p:nvSpPr>
            <p:cNvPr id="17" name="Shape 0">
              <a:extLst>
                <a:ext uri="{FF2B5EF4-FFF2-40B4-BE49-F238E27FC236}">
                  <a16:creationId xmlns:a16="http://schemas.microsoft.com/office/drawing/2014/main" id="{25BA06F8-3AA7-ED19-ACA0-2C866E43ADF4}"/>
                </a:ext>
              </a:extLst>
            </p:cNvPr>
            <p:cNvSpPr/>
            <p:nvPr/>
          </p:nvSpPr>
          <p:spPr>
            <a:xfrm>
              <a:off x="530352" y="41479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18" name="Text 1">
              <a:extLst>
                <a:ext uri="{FF2B5EF4-FFF2-40B4-BE49-F238E27FC236}">
                  <a16:creationId xmlns:a16="http://schemas.microsoft.com/office/drawing/2014/main" id="{0AB5C5FC-5126-34E1-01FB-5780BCE9DC73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8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질문게시판</a:t>
              </a:r>
              <a:endParaRPr lang="en-US" sz="850" dirty="0"/>
            </a:p>
          </p:txBody>
        </p:sp>
      </p:grpSp>
      <p:pic>
        <p:nvPicPr>
          <p:cNvPr id="27" name="그림 26">
            <a:extLst>
              <a:ext uri="{FF2B5EF4-FFF2-40B4-BE49-F238E27FC236}">
                <a16:creationId xmlns:a16="http://schemas.microsoft.com/office/drawing/2014/main" id="{F343D96D-7FD0-FAC7-94C7-84B13ADD1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495" y="1776300"/>
            <a:ext cx="5570564" cy="3749206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56806E99-4BE8-7C12-0DFA-C52ECDA6C8F1}"/>
              </a:ext>
            </a:extLst>
          </p:cNvPr>
          <p:cNvGrpSpPr/>
          <p:nvPr/>
        </p:nvGrpSpPr>
        <p:grpSpPr>
          <a:xfrm>
            <a:off x="530352" y="402336"/>
            <a:ext cx="1097280" cy="347472"/>
            <a:chOff x="530352" y="402336"/>
            <a:chExt cx="960120" cy="256032"/>
          </a:xfrm>
        </p:grpSpPr>
        <p:sp>
          <p:nvSpPr>
            <p:cNvPr id="15" name="Shape 0">
              <a:extLst>
                <a:ext uri="{FF2B5EF4-FFF2-40B4-BE49-F238E27FC236}">
                  <a16:creationId xmlns:a16="http://schemas.microsoft.com/office/drawing/2014/main" id="{58EE2B76-FE02-E8F6-EAC5-96FA7C9D56B5}"/>
                </a:ext>
              </a:extLst>
            </p:cNvPr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19" name="Text 1">
              <a:extLst>
                <a:ext uri="{FF2B5EF4-FFF2-40B4-BE49-F238E27FC236}">
                  <a16:creationId xmlns:a16="http://schemas.microsoft.com/office/drawing/2014/main" id="{06D1B28A-F21F-6B90-F418-BEBF92F56BA8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ko-KR" altLang="en-US" sz="14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질문 상세</a:t>
              </a:r>
              <a:endParaRPr lang="en-US" sz="14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pic>
        <p:nvPicPr>
          <p:cNvPr id="25" name="그림 24">
            <a:extLst>
              <a:ext uri="{FF2B5EF4-FFF2-40B4-BE49-F238E27FC236}">
                <a16:creationId xmlns:a16="http://schemas.microsoft.com/office/drawing/2014/main" id="{B52EAEA5-D781-3BF7-4052-7847BD3C31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7380" y="507950"/>
            <a:ext cx="4599755" cy="305646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68CC1490-748C-CBFB-0FB7-2E1614DB4D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393" y="1477428"/>
            <a:ext cx="5551665" cy="41187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DBB0E0B-D4A7-02C0-B6A2-C73DB621B6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392" y="1736076"/>
            <a:ext cx="5431414" cy="3829653"/>
          </a:xfrm>
          <a:prstGeom prst="rect">
            <a:avLst/>
          </a:prstGeom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4E43200C-A640-B922-3E72-57CD984AA22A}"/>
              </a:ext>
            </a:extLst>
          </p:cNvPr>
          <p:cNvSpPr/>
          <p:nvPr/>
        </p:nvSpPr>
        <p:spPr>
          <a:xfrm>
            <a:off x="2725098" y="1844074"/>
            <a:ext cx="813816" cy="503623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BF094D-43C1-E3CD-C1D1-BBCCECCCA169}"/>
              </a:ext>
            </a:extLst>
          </p:cNvPr>
          <p:cNvSpPr/>
          <p:nvPr/>
        </p:nvSpPr>
        <p:spPr>
          <a:xfrm>
            <a:off x="505437" y="4364135"/>
            <a:ext cx="5222564" cy="1175658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5AE4E1-74B9-8213-F3AA-DAB950E4BED0}"/>
              </a:ext>
            </a:extLst>
          </p:cNvPr>
          <p:cNvSpPr txBox="1"/>
          <p:nvPr/>
        </p:nvSpPr>
        <p:spPr>
          <a:xfrm>
            <a:off x="6427380" y="3888419"/>
            <a:ext cx="46697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ko-KR" dirty="0"/>
              <a:t>질문 상세 페이지에서 답변 및 추가</a:t>
            </a:r>
            <a:r>
              <a:rPr lang="en-US" altLang="ko-KR" dirty="0"/>
              <a:t>                               </a:t>
            </a:r>
            <a:r>
              <a:rPr lang="ko-KR" altLang="ko-KR" dirty="0"/>
              <a:t> </a:t>
            </a:r>
            <a:r>
              <a:rPr lang="en-US" altLang="ko-KR" dirty="0"/>
              <a:t>                            </a:t>
            </a:r>
            <a:r>
              <a:rPr lang="ko-KR" altLang="ko-KR" dirty="0"/>
              <a:t>질문을 작성</a:t>
            </a:r>
            <a:r>
              <a:rPr lang="ko-KR" altLang="en-US" dirty="0"/>
              <a:t>가능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ko-KR" dirty="0"/>
              <a:t>작성자에 따라</a:t>
            </a:r>
            <a:r>
              <a:rPr lang="en-US" altLang="ko-KR" dirty="0"/>
              <a:t> </a:t>
            </a:r>
            <a:r>
              <a:rPr lang="ko-KR" altLang="ko-KR" dirty="0"/>
              <a:t>질문 상태</a:t>
            </a:r>
            <a:r>
              <a:rPr lang="en-US" altLang="ko-KR" dirty="0"/>
              <a:t>(status)</a:t>
            </a:r>
            <a:r>
              <a:rPr lang="ko-KR" altLang="ko-KR" dirty="0"/>
              <a:t>가 자동으로 변경되도록 구현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EAA5E6-1CE7-E20C-A929-126172BBA74E}"/>
              </a:ext>
            </a:extLst>
          </p:cNvPr>
          <p:cNvSpPr txBox="1"/>
          <p:nvPr/>
        </p:nvSpPr>
        <p:spPr>
          <a:xfrm>
            <a:off x="6427380" y="5184862"/>
            <a:ext cx="45174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ko-KR" dirty="0"/>
              <a:t>질문 작성자가 답변을 채택하면 해당 답변을 정답으로 지정하고</a:t>
            </a:r>
            <a:r>
              <a:rPr lang="en-US" altLang="ko-KR" dirty="0"/>
              <a:t>, </a:t>
            </a:r>
            <a:r>
              <a:rPr lang="ko-KR" altLang="ko-KR" dirty="0"/>
              <a:t>질문 상태를 해결 완료(RESOLVED)로 변경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7580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A98B5E-EB8C-9FCA-5578-D1EFC1C84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>
            <a:extLst>
              <a:ext uri="{FF2B5EF4-FFF2-40B4-BE49-F238E27FC236}">
                <a16:creationId xmlns:a16="http://schemas.microsoft.com/office/drawing/2014/main" id="{4B3B3841-CD9F-E05B-3605-970328E6440C}"/>
              </a:ext>
            </a:extLst>
          </p:cNvPr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B1B317D-E2E5-ECB1-BB04-8DEF0FCB371D}"/>
              </a:ext>
            </a:extLst>
          </p:cNvPr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0D3C61B-A629-0DDB-FB01-3F3E53F6AD37}"/>
              </a:ext>
            </a:extLst>
          </p:cNvPr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6A971D00-75E1-93AA-01BC-9D5F677A672C}"/>
              </a:ext>
            </a:extLst>
          </p:cNvPr>
          <p:cNvSpPr/>
          <p:nvPr/>
        </p:nvSpPr>
        <p:spPr>
          <a:xfrm>
            <a:off x="-1923288" y="4006183"/>
            <a:ext cx="0" cy="438912"/>
          </a:xfrm>
          <a:prstGeom prst="line">
            <a:avLst/>
          </a:prstGeom>
          <a:noFill/>
          <a:ln w="9525">
            <a:solidFill>
              <a:srgbClr val="D4DDD8"/>
            </a:solidFill>
            <a:prstDash val="solid"/>
          </a:ln>
        </p:spPr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D025AA8-F600-42E7-A89B-2451B65FC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28467"/>
            <a:ext cx="6401343" cy="3416628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38F9922A-8D77-2B14-8DDE-739C730348C8}"/>
              </a:ext>
            </a:extLst>
          </p:cNvPr>
          <p:cNvGrpSpPr/>
          <p:nvPr/>
        </p:nvGrpSpPr>
        <p:grpSpPr>
          <a:xfrm>
            <a:off x="530352" y="409571"/>
            <a:ext cx="960120" cy="256032"/>
            <a:chOff x="530352" y="409571"/>
            <a:chExt cx="960120" cy="256032"/>
          </a:xfrm>
        </p:grpSpPr>
        <p:sp>
          <p:nvSpPr>
            <p:cNvPr id="13" name="Shape 0">
              <a:extLst>
                <a:ext uri="{FF2B5EF4-FFF2-40B4-BE49-F238E27FC236}">
                  <a16:creationId xmlns:a16="http://schemas.microsoft.com/office/drawing/2014/main" id="{D0C760CE-93B1-E84D-BDB4-51E9F2076ADC}"/>
                </a:ext>
              </a:extLst>
            </p:cNvPr>
            <p:cNvSpPr/>
            <p:nvPr/>
          </p:nvSpPr>
          <p:spPr>
            <a:xfrm>
              <a:off x="530352" y="409571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C87A1648-18C2-A002-CDFE-0B89F5C470D0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8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명예의 전당</a:t>
              </a:r>
              <a:endParaRPr lang="en-US" sz="850" dirty="0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AC41A7B-DAA3-3BD2-1498-DB62BC01B84A}"/>
              </a:ext>
            </a:extLst>
          </p:cNvPr>
          <p:cNvGrpSpPr/>
          <p:nvPr/>
        </p:nvGrpSpPr>
        <p:grpSpPr>
          <a:xfrm>
            <a:off x="530352" y="402336"/>
            <a:ext cx="1097280" cy="347472"/>
            <a:chOff x="530352" y="402336"/>
            <a:chExt cx="960120" cy="256032"/>
          </a:xfrm>
        </p:grpSpPr>
        <p:sp>
          <p:nvSpPr>
            <p:cNvPr id="4" name="Shape 0">
              <a:extLst>
                <a:ext uri="{FF2B5EF4-FFF2-40B4-BE49-F238E27FC236}">
                  <a16:creationId xmlns:a16="http://schemas.microsoft.com/office/drawing/2014/main" id="{727A7A54-F4B4-6687-C8D4-71175B051DE2}"/>
                </a:ext>
              </a:extLst>
            </p:cNvPr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5" name="Text 1">
              <a:extLst>
                <a:ext uri="{FF2B5EF4-FFF2-40B4-BE49-F238E27FC236}">
                  <a16:creationId xmlns:a16="http://schemas.microsoft.com/office/drawing/2014/main" id="{CB9184A3-8D4E-CD06-E858-A110FFE15E3E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ko-KR" altLang="en-US" sz="14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명예의 전당</a:t>
              </a:r>
              <a:endParaRPr lang="en-US" sz="14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A585CEB3-BA71-580A-FBC1-D0090E0D2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341" y="2487044"/>
            <a:ext cx="4182059" cy="214342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8D536CE-4D6B-F8B7-D018-7F270B6AE7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341" y="610740"/>
            <a:ext cx="4182059" cy="140535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3250742-0367-3789-AB62-65103DBA1C1A}"/>
              </a:ext>
            </a:extLst>
          </p:cNvPr>
          <p:cNvSpPr txBox="1"/>
          <p:nvPr/>
        </p:nvSpPr>
        <p:spPr>
          <a:xfrm>
            <a:off x="444137" y="4581410"/>
            <a:ext cx="5974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/>
              <a:t>채택된 답변 수를 기준으로 사용자의 기여도를 집계하고, 가장 많</a:t>
            </a:r>
            <a:r>
              <a:rPr lang="ko-KR" altLang="en-US" dirty="0"/>
              <a:t>은 </a:t>
            </a:r>
            <a:r>
              <a:rPr lang="en-US" altLang="ko-KR" dirty="0"/>
              <a:t>‘resolved’</a:t>
            </a:r>
            <a:r>
              <a:rPr lang="ko-KR" altLang="ko-KR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받은 사람과 가장 많은 </a:t>
            </a:r>
            <a:r>
              <a:rPr lang="en-US" altLang="ko-KR" dirty="0"/>
              <a:t>‘responses’(</a:t>
            </a:r>
            <a:r>
              <a:rPr lang="ko-KR" altLang="en-US" dirty="0"/>
              <a:t>답변</a:t>
            </a:r>
            <a:r>
              <a:rPr lang="en-US" altLang="ko-KR" dirty="0"/>
              <a:t>)</a:t>
            </a:r>
            <a:r>
              <a:rPr lang="ko-KR" altLang="en-US" dirty="0"/>
              <a:t>를 달은</a:t>
            </a:r>
            <a:r>
              <a:rPr lang="en-US" altLang="ko-KR" dirty="0"/>
              <a:t> TOP3</a:t>
            </a:r>
            <a:r>
              <a:rPr lang="ko-KR" altLang="en-US" dirty="0"/>
              <a:t>를</a:t>
            </a:r>
            <a:r>
              <a:rPr lang="ko-KR" altLang="ko-KR" dirty="0"/>
              <a:t> 보여주도록 구현</a:t>
            </a:r>
            <a:endParaRPr lang="ko-KR" altLang="en-US" dirty="0"/>
          </a:p>
        </p:txBody>
      </p:sp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62A94796-511A-F718-45F4-84D6D1638D0E}"/>
              </a:ext>
            </a:extLst>
          </p:cNvPr>
          <p:cNvSpPr/>
          <p:nvPr/>
        </p:nvSpPr>
        <p:spPr>
          <a:xfrm>
            <a:off x="8709776" y="2016093"/>
            <a:ext cx="702888" cy="4709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2EF0D5C-246D-B6DF-F531-12C1AB7D2C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9340" y="4696977"/>
            <a:ext cx="4182059" cy="160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023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A229F9-4B76-B6B7-04BD-61F8B2D25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3571F4B-35B1-E5AC-06C2-314256F308DB}"/>
              </a:ext>
            </a:extLst>
          </p:cNvPr>
          <p:cNvSpPr/>
          <p:nvPr/>
        </p:nvSpPr>
        <p:spPr>
          <a:xfrm>
            <a:off x="603504" y="438912"/>
            <a:ext cx="81381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89C9A1D-C43B-19D1-5DB2-D5B41B606D98}"/>
              </a:ext>
            </a:extLst>
          </p:cNvPr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075BC22-89E2-17F1-58AE-EC5BEA56A3FC}"/>
              </a:ext>
            </a:extLst>
          </p:cNvPr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3C8C0F3-B16B-A314-AA9F-9DF1CD77719A}"/>
              </a:ext>
            </a:extLst>
          </p:cNvPr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C8D61660-84B2-9D8D-E3A4-47DD30085782}"/>
              </a:ext>
            </a:extLst>
          </p:cNvPr>
          <p:cNvSpPr/>
          <p:nvPr/>
        </p:nvSpPr>
        <p:spPr>
          <a:xfrm>
            <a:off x="-1923288" y="4006183"/>
            <a:ext cx="0" cy="438912"/>
          </a:xfrm>
          <a:prstGeom prst="line">
            <a:avLst/>
          </a:prstGeom>
          <a:noFill/>
          <a:ln w="9525">
            <a:solidFill>
              <a:srgbClr val="D4DDD8"/>
            </a:solidFill>
            <a:prstDash val="solid"/>
          </a:ln>
        </p:spPr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C131508-9CF4-3700-09F6-C42D2BD11755}"/>
              </a:ext>
            </a:extLst>
          </p:cNvPr>
          <p:cNvGrpSpPr/>
          <p:nvPr/>
        </p:nvGrpSpPr>
        <p:grpSpPr>
          <a:xfrm>
            <a:off x="530352" y="409571"/>
            <a:ext cx="960120" cy="256032"/>
            <a:chOff x="530352" y="409571"/>
            <a:chExt cx="960120" cy="256032"/>
          </a:xfrm>
        </p:grpSpPr>
        <p:sp>
          <p:nvSpPr>
            <p:cNvPr id="9" name="Shape 0">
              <a:extLst>
                <a:ext uri="{FF2B5EF4-FFF2-40B4-BE49-F238E27FC236}">
                  <a16:creationId xmlns:a16="http://schemas.microsoft.com/office/drawing/2014/main" id="{6E33B6CF-4E16-A40C-5AD6-2DF2AFD83A19}"/>
                </a:ext>
              </a:extLst>
            </p:cNvPr>
            <p:cNvSpPr/>
            <p:nvPr/>
          </p:nvSpPr>
          <p:spPr>
            <a:xfrm>
              <a:off x="530352" y="409571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10" name="Text 1">
              <a:extLst>
                <a:ext uri="{FF2B5EF4-FFF2-40B4-BE49-F238E27FC236}">
                  <a16:creationId xmlns:a16="http://schemas.microsoft.com/office/drawing/2014/main" id="{0675529C-E8E9-082A-F542-6CC00A5F603F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8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강사 홈</a:t>
              </a:r>
              <a:endParaRPr lang="en-US" sz="850" dirty="0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D4B6DBBB-4DB3-F098-8072-84C2B7D02F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9" r="1095" b="6133"/>
          <a:stretch>
            <a:fillRect/>
          </a:stretch>
        </p:blipFill>
        <p:spPr>
          <a:xfrm>
            <a:off x="530353" y="182880"/>
            <a:ext cx="6088160" cy="4974896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C1AC537-4820-D0C6-EDD9-D2E87F90B3B4}"/>
              </a:ext>
            </a:extLst>
          </p:cNvPr>
          <p:cNvGrpSpPr/>
          <p:nvPr/>
        </p:nvGrpSpPr>
        <p:grpSpPr>
          <a:xfrm>
            <a:off x="530352" y="402336"/>
            <a:ext cx="1097280" cy="347472"/>
            <a:chOff x="530352" y="402336"/>
            <a:chExt cx="960120" cy="256032"/>
          </a:xfrm>
        </p:grpSpPr>
        <p:sp>
          <p:nvSpPr>
            <p:cNvPr id="4" name="Shape 0">
              <a:extLst>
                <a:ext uri="{FF2B5EF4-FFF2-40B4-BE49-F238E27FC236}">
                  <a16:creationId xmlns:a16="http://schemas.microsoft.com/office/drawing/2014/main" id="{C1C3E3A2-760B-C396-C552-AF371011D5FE}"/>
                </a:ext>
              </a:extLst>
            </p:cNvPr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11" name="Text 1">
              <a:extLst>
                <a:ext uri="{FF2B5EF4-FFF2-40B4-BE49-F238E27FC236}">
                  <a16:creationId xmlns:a16="http://schemas.microsoft.com/office/drawing/2014/main" id="{A91AAC6B-4966-FDF7-9F3E-430E35A789B5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ko-KR" altLang="en-US" sz="14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강사 홈</a:t>
              </a:r>
              <a:endParaRPr lang="en-US" sz="14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D6C7915-1BCD-0DF1-7B58-1CF14979D17D}"/>
              </a:ext>
            </a:extLst>
          </p:cNvPr>
          <p:cNvSpPr txBox="1"/>
          <p:nvPr/>
        </p:nvSpPr>
        <p:spPr>
          <a:xfrm>
            <a:off x="613953" y="5386030"/>
            <a:ext cx="6449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/>
              <a:t>강사가 답변이 필요한 질문 흐름을 한눈에 확인하고, </a:t>
            </a:r>
            <a:endParaRPr lang="en-US" altLang="ko-KR" dirty="0"/>
          </a:p>
          <a:p>
            <a:r>
              <a:rPr lang="ko-KR" altLang="ko-KR" dirty="0"/>
              <a:t>상태별 질문을 빠르게 필터링할 수 있도록 구성한 관리 화면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D4F0140-67B2-46CE-D3FA-5CC4B6B65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542" y="621792"/>
            <a:ext cx="5345403" cy="261878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CB9C6D7-2674-BC70-7EE2-CE0D0B942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541" y="3363614"/>
            <a:ext cx="5345403" cy="194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667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7FE44-7E7A-7234-C450-D047C7E99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E3C5C4E-28E3-078A-FCC5-5F23B29708F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 w="9525">
            <a:solidFill>
              <a:srgbClr val="F7F8F6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1823F58-35CA-1009-15BA-530DAA56E017}"/>
              </a:ext>
            </a:extLst>
          </p:cNvPr>
          <p:cNvSpPr/>
          <p:nvPr/>
        </p:nvSpPr>
        <p:spPr>
          <a:xfrm>
            <a:off x="4114801" y="0"/>
            <a:ext cx="8083291" cy="6437376"/>
          </a:xfrm>
          <a:prstGeom prst="rect">
            <a:avLst/>
          </a:prstGeom>
          <a:solidFill>
            <a:srgbClr val="E8F2EE"/>
          </a:solidFill>
          <a:ln w="9525">
            <a:solidFill>
              <a:srgbClr val="E8F2EE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6845EE1-46C7-9BAE-8F18-F3FB7AEB2F85}"/>
              </a:ext>
            </a:extLst>
          </p:cNvPr>
          <p:cNvSpPr/>
          <p:nvPr/>
        </p:nvSpPr>
        <p:spPr>
          <a:xfrm>
            <a:off x="3825554" y="429768"/>
            <a:ext cx="0" cy="557784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D26AC78-B9E6-E78B-1567-02F0BFA24E01}"/>
              </a:ext>
            </a:extLst>
          </p:cNvPr>
          <p:cNvSpPr/>
          <p:nvPr/>
        </p:nvSpPr>
        <p:spPr>
          <a:xfrm>
            <a:off x="530352" y="1341929"/>
            <a:ext cx="4937760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altLang="ko-KR" sz="3600" b="1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06 </a:t>
            </a:r>
            <a:r>
              <a:rPr lang="ko-KR" altLang="en-US" sz="3600" b="1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배포 </a:t>
            </a:r>
            <a:r>
              <a:rPr lang="en-US" altLang="ko-KR" sz="3600" b="1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&amp; </a:t>
            </a:r>
            <a:r>
              <a:rPr lang="ko-KR" altLang="en-US" sz="3600" b="1" dirty="0">
                <a:solidFill>
                  <a:srgbClr val="17202A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시연</a:t>
            </a:r>
            <a:endParaRPr lang="en-US" altLang="ko-KR" sz="3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4E34A061-73A6-6BD9-2608-5021ADBB0BD8}"/>
              </a:ext>
            </a:extLst>
          </p:cNvPr>
          <p:cNvSpPr/>
          <p:nvPr/>
        </p:nvSpPr>
        <p:spPr>
          <a:xfrm>
            <a:off x="530352" y="6437376"/>
            <a:ext cx="11137392" cy="0"/>
          </a:xfrm>
          <a:prstGeom prst="line">
            <a:avLst/>
          </a:prstGeom>
          <a:noFill/>
          <a:ln w="10160">
            <a:solidFill>
              <a:srgbClr val="D4DDD8"/>
            </a:solidFill>
            <a:prstDash val="solid"/>
          </a:ln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158B38E-6EBA-5532-6FDA-24B4DDC4A3B5}"/>
              </a:ext>
            </a:extLst>
          </p:cNvPr>
          <p:cNvSpPr/>
          <p:nvPr/>
        </p:nvSpPr>
        <p:spPr>
          <a:xfrm>
            <a:off x="530352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C6A7BE43-B1EF-7A61-F47B-83413822930E}"/>
              </a:ext>
            </a:extLst>
          </p:cNvPr>
          <p:cNvSpPr/>
          <p:nvPr/>
        </p:nvSpPr>
        <p:spPr>
          <a:xfrm>
            <a:off x="11201400" y="6492240"/>
            <a:ext cx="4754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687496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B37C6-9E5B-3D66-2E94-2D1207FC0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39">
            <a:extLst>
              <a:ext uri="{FF2B5EF4-FFF2-40B4-BE49-F238E27FC236}">
                <a16:creationId xmlns:a16="http://schemas.microsoft.com/office/drawing/2014/main" id="{43B06D6E-2598-E259-2F95-38618C038C73}"/>
              </a:ext>
            </a:extLst>
          </p:cNvPr>
          <p:cNvSpPr/>
          <p:nvPr/>
        </p:nvSpPr>
        <p:spPr>
          <a:xfrm>
            <a:off x="-1923288" y="4006183"/>
            <a:ext cx="0" cy="438912"/>
          </a:xfrm>
          <a:prstGeom prst="line">
            <a:avLst/>
          </a:prstGeom>
          <a:noFill/>
          <a:ln w="9525">
            <a:solidFill>
              <a:srgbClr val="D4DDD8"/>
            </a:solidFill>
            <a:prstDash val="solid"/>
          </a:ln>
        </p:spPr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83CA62D-61A0-86B0-BB2F-90B9FB695FAE}"/>
              </a:ext>
            </a:extLst>
          </p:cNvPr>
          <p:cNvGrpSpPr/>
          <p:nvPr/>
        </p:nvGrpSpPr>
        <p:grpSpPr>
          <a:xfrm>
            <a:off x="530352" y="409571"/>
            <a:ext cx="960120" cy="256032"/>
            <a:chOff x="530352" y="409571"/>
            <a:chExt cx="960120" cy="256032"/>
          </a:xfrm>
        </p:grpSpPr>
        <p:sp>
          <p:nvSpPr>
            <p:cNvPr id="13" name="Shape 0">
              <a:extLst>
                <a:ext uri="{FF2B5EF4-FFF2-40B4-BE49-F238E27FC236}">
                  <a16:creationId xmlns:a16="http://schemas.microsoft.com/office/drawing/2014/main" id="{0C0282FD-FB98-B186-0360-52FA76ED9AD1}"/>
                </a:ext>
              </a:extLst>
            </p:cNvPr>
            <p:cNvSpPr/>
            <p:nvPr/>
          </p:nvSpPr>
          <p:spPr>
            <a:xfrm>
              <a:off x="530352" y="409571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A8FAD5B2-567B-5B8E-872B-D646C7F2AB6B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8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명예의 전당</a:t>
              </a:r>
              <a:endParaRPr lang="en-US" sz="850" dirty="0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DA2C812-BCDE-FEE9-B44B-56B0B6C3A87A}"/>
              </a:ext>
            </a:extLst>
          </p:cNvPr>
          <p:cNvGrpSpPr/>
          <p:nvPr/>
        </p:nvGrpSpPr>
        <p:grpSpPr>
          <a:xfrm>
            <a:off x="530352" y="402336"/>
            <a:ext cx="1097280" cy="347472"/>
            <a:chOff x="530352" y="402336"/>
            <a:chExt cx="960120" cy="256032"/>
          </a:xfrm>
        </p:grpSpPr>
        <p:sp>
          <p:nvSpPr>
            <p:cNvPr id="4" name="Shape 0">
              <a:extLst>
                <a:ext uri="{FF2B5EF4-FFF2-40B4-BE49-F238E27FC236}">
                  <a16:creationId xmlns:a16="http://schemas.microsoft.com/office/drawing/2014/main" id="{64D4976F-851B-B18D-B8A0-2864ED7F6E1C}"/>
                </a:ext>
              </a:extLst>
            </p:cNvPr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5" name="Text 1">
              <a:extLst>
                <a:ext uri="{FF2B5EF4-FFF2-40B4-BE49-F238E27FC236}">
                  <a16:creationId xmlns:a16="http://schemas.microsoft.com/office/drawing/2014/main" id="{7FB3D4F3-A35B-4F6C-B4E9-51886EB00C8C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ko-KR" altLang="en-US" sz="14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배포</a:t>
              </a:r>
              <a:endParaRPr lang="en-US" sz="14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pic>
        <p:nvPicPr>
          <p:cNvPr id="11" name="그래픽 10">
            <a:extLst>
              <a:ext uri="{FF2B5EF4-FFF2-40B4-BE49-F238E27FC236}">
                <a16:creationId xmlns:a16="http://schemas.microsoft.com/office/drawing/2014/main" id="{458C097B-AB0E-14F8-E9FC-B811B62614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2099" y="3160148"/>
            <a:ext cx="2031366" cy="674413"/>
          </a:xfrm>
          <a:prstGeom prst="rect">
            <a:avLst/>
          </a:prstGeom>
        </p:spPr>
      </p:pic>
      <p:sp>
        <p:nvSpPr>
          <p:cNvPr id="25" name="Shape 0">
            <a:extLst>
              <a:ext uri="{FF2B5EF4-FFF2-40B4-BE49-F238E27FC236}">
                <a16:creationId xmlns:a16="http://schemas.microsoft.com/office/drawing/2014/main" id="{59D09C9E-1E97-0A73-A346-F9EE9F5082F5}"/>
              </a:ext>
            </a:extLst>
          </p:cNvPr>
          <p:cNvSpPr/>
          <p:nvPr/>
        </p:nvSpPr>
        <p:spPr>
          <a:xfrm>
            <a:off x="7560646" y="2194616"/>
            <a:ext cx="3436572" cy="3132718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9525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1" name="순서도: 대체 처리 20">
            <a:extLst>
              <a:ext uri="{FF2B5EF4-FFF2-40B4-BE49-F238E27FC236}">
                <a16:creationId xmlns:a16="http://schemas.microsoft.com/office/drawing/2014/main" id="{E9C7AAD3-F09E-8A74-C3F9-03F49D215CBB}"/>
              </a:ext>
            </a:extLst>
          </p:cNvPr>
          <p:cNvSpPr/>
          <p:nvPr/>
        </p:nvSpPr>
        <p:spPr>
          <a:xfrm>
            <a:off x="8258760" y="2823936"/>
            <a:ext cx="2039937" cy="477891"/>
          </a:xfrm>
          <a:prstGeom prst="flowChartAlternateProcess">
            <a:avLst/>
          </a:prstGeom>
          <a:solidFill>
            <a:srgbClr val="33B7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Nginx (80)</a:t>
            </a:r>
            <a:endParaRPr lang="ko-KR" altLang="en-US" b="1" dirty="0"/>
          </a:p>
        </p:txBody>
      </p:sp>
      <p:sp>
        <p:nvSpPr>
          <p:cNvPr id="22" name="순서도: 대체 처리 21">
            <a:extLst>
              <a:ext uri="{FF2B5EF4-FFF2-40B4-BE49-F238E27FC236}">
                <a16:creationId xmlns:a16="http://schemas.microsoft.com/office/drawing/2014/main" id="{27BDCA77-66BA-6639-53AD-D3F0F34D2E6D}"/>
              </a:ext>
            </a:extLst>
          </p:cNvPr>
          <p:cNvSpPr/>
          <p:nvPr/>
        </p:nvSpPr>
        <p:spPr>
          <a:xfrm>
            <a:off x="8245722" y="3730304"/>
            <a:ext cx="2039937" cy="477891"/>
          </a:xfrm>
          <a:prstGeom prst="flowChartAlternateProcess">
            <a:avLst/>
          </a:prstGeom>
          <a:solidFill>
            <a:srgbClr val="33B7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Django (web)</a:t>
            </a:r>
            <a:endParaRPr lang="ko-KR" altLang="en-US" b="1" dirty="0"/>
          </a:p>
        </p:txBody>
      </p:sp>
      <p:sp>
        <p:nvSpPr>
          <p:cNvPr id="23" name="순서도: 대체 처리 22">
            <a:extLst>
              <a:ext uri="{FF2B5EF4-FFF2-40B4-BE49-F238E27FC236}">
                <a16:creationId xmlns:a16="http://schemas.microsoft.com/office/drawing/2014/main" id="{D6216C9A-C53A-8B05-61AD-729B7C83546C}"/>
              </a:ext>
            </a:extLst>
          </p:cNvPr>
          <p:cNvSpPr/>
          <p:nvPr/>
        </p:nvSpPr>
        <p:spPr>
          <a:xfrm>
            <a:off x="8245722" y="4636673"/>
            <a:ext cx="2039937" cy="477891"/>
          </a:xfrm>
          <a:prstGeom prst="flowChartAlternateProcess">
            <a:avLst/>
          </a:prstGeom>
          <a:solidFill>
            <a:srgbClr val="33B7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PostgreSQL (</a:t>
            </a:r>
            <a:r>
              <a:rPr lang="en-US" altLang="ko-KR" b="1" dirty="0" err="1"/>
              <a:t>db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9F9C0E1-471E-B2A4-A9C0-47F10CD453FC}"/>
              </a:ext>
            </a:extLst>
          </p:cNvPr>
          <p:cNvCxnSpPr>
            <a:cxnSpLocks/>
          </p:cNvCxnSpPr>
          <p:nvPr/>
        </p:nvCxnSpPr>
        <p:spPr>
          <a:xfrm>
            <a:off x="9278931" y="3346287"/>
            <a:ext cx="1" cy="3746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8D4BDFE4-3422-F290-8ABD-4670597EFC69}"/>
              </a:ext>
            </a:extLst>
          </p:cNvPr>
          <p:cNvCxnSpPr>
            <a:cxnSpLocks/>
          </p:cNvCxnSpPr>
          <p:nvPr/>
        </p:nvCxnSpPr>
        <p:spPr>
          <a:xfrm>
            <a:off x="9278728" y="4243326"/>
            <a:ext cx="1" cy="3746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순서도: 대체 처리 34">
            <a:extLst>
              <a:ext uri="{FF2B5EF4-FFF2-40B4-BE49-F238E27FC236}">
                <a16:creationId xmlns:a16="http://schemas.microsoft.com/office/drawing/2014/main" id="{5BE679E7-9E57-FF2C-AF7B-559641138B6D}"/>
              </a:ext>
            </a:extLst>
          </p:cNvPr>
          <p:cNvSpPr/>
          <p:nvPr/>
        </p:nvSpPr>
        <p:spPr>
          <a:xfrm>
            <a:off x="924999" y="3200107"/>
            <a:ext cx="1451972" cy="721275"/>
          </a:xfrm>
          <a:prstGeom prst="flowChartAlternateProcess">
            <a:avLst/>
          </a:prstGeom>
          <a:solidFill>
            <a:srgbClr val="33B7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사용자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E571F41F-724B-19E7-A60E-B52E09622BBF}"/>
              </a:ext>
            </a:extLst>
          </p:cNvPr>
          <p:cNvCxnSpPr>
            <a:cxnSpLocks/>
          </p:cNvCxnSpPr>
          <p:nvPr/>
        </p:nvCxnSpPr>
        <p:spPr>
          <a:xfrm>
            <a:off x="2660000" y="3558369"/>
            <a:ext cx="10905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5F9E200-F727-C914-0A6C-8EE1132F451E}"/>
              </a:ext>
            </a:extLst>
          </p:cNvPr>
          <p:cNvSpPr txBox="1"/>
          <p:nvPr/>
        </p:nvSpPr>
        <p:spPr>
          <a:xfrm>
            <a:off x="8993437" y="1734845"/>
            <a:ext cx="570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FFC000"/>
                </a:solidFill>
              </a:rPr>
              <a:t>PC</a:t>
            </a:r>
            <a:endParaRPr lang="ko-KR" altLang="en-US" sz="2400" b="1" dirty="0">
              <a:solidFill>
                <a:srgbClr val="FFC000"/>
              </a:solidFill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9FA0B6D7-6DCB-E50A-6A1F-8BEFDB5F6611}"/>
              </a:ext>
            </a:extLst>
          </p:cNvPr>
          <p:cNvCxnSpPr>
            <a:cxnSpLocks/>
          </p:cNvCxnSpPr>
          <p:nvPr/>
        </p:nvCxnSpPr>
        <p:spPr>
          <a:xfrm>
            <a:off x="6214188" y="3558369"/>
            <a:ext cx="12623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F974569-2EA5-B3EE-DFBE-63464C049361}"/>
              </a:ext>
            </a:extLst>
          </p:cNvPr>
          <p:cNvSpPr txBox="1"/>
          <p:nvPr/>
        </p:nvSpPr>
        <p:spPr>
          <a:xfrm>
            <a:off x="2776927" y="3252242"/>
            <a:ext cx="7852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HTTPS</a:t>
            </a:r>
            <a:endParaRPr lang="ko-KR" altLang="en-US" sz="16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79888C-E547-C352-1889-4A6A90891F57}"/>
              </a:ext>
            </a:extLst>
          </p:cNvPr>
          <p:cNvSpPr txBox="1"/>
          <p:nvPr/>
        </p:nvSpPr>
        <p:spPr>
          <a:xfrm>
            <a:off x="6449255" y="3259723"/>
            <a:ext cx="792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Tunnel</a:t>
            </a:r>
            <a:endParaRPr lang="ko-KR" altLang="en-US" sz="16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4CA26A8-DEA0-8571-CA62-C4E7E4DAF9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8912" y="2191788"/>
            <a:ext cx="700040" cy="57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77424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F2A11-02AD-C0AA-5CA6-FA31EB5AD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DBDAC54-62F8-0577-0201-BBA1D750B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322" y="2009768"/>
            <a:ext cx="4007547" cy="1662464"/>
          </a:xfrm>
          <a:prstGeom prst="rect">
            <a:avLst/>
          </a:prstGeom>
        </p:spPr>
      </p:pic>
      <p:sp>
        <p:nvSpPr>
          <p:cNvPr id="41" name="Shape 39">
            <a:extLst>
              <a:ext uri="{FF2B5EF4-FFF2-40B4-BE49-F238E27FC236}">
                <a16:creationId xmlns:a16="http://schemas.microsoft.com/office/drawing/2014/main" id="{8512E08A-95C0-A0CC-D4CC-CD3AA94048F6}"/>
              </a:ext>
            </a:extLst>
          </p:cNvPr>
          <p:cNvSpPr/>
          <p:nvPr/>
        </p:nvSpPr>
        <p:spPr>
          <a:xfrm>
            <a:off x="-1923288" y="4006183"/>
            <a:ext cx="0" cy="438912"/>
          </a:xfrm>
          <a:prstGeom prst="line">
            <a:avLst/>
          </a:prstGeom>
          <a:noFill/>
          <a:ln w="9525">
            <a:solidFill>
              <a:srgbClr val="D4DDD8"/>
            </a:solidFill>
            <a:prstDash val="solid"/>
          </a:ln>
        </p:spPr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2103DE5-874D-EEE6-D691-744D2D288A0A}"/>
              </a:ext>
            </a:extLst>
          </p:cNvPr>
          <p:cNvGrpSpPr/>
          <p:nvPr/>
        </p:nvGrpSpPr>
        <p:grpSpPr>
          <a:xfrm>
            <a:off x="530352" y="409571"/>
            <a:ext cx="960120" cy="256032"/>
            <a:chOff x="530352" y="409571"/>
            <a:chExt cx="960120" cy="256032"/>
          </a:xfrm>
        </p:grpSpPr>
        <p:sp>
          <p:nvSpPr>
            <p:cNvPr id="13" name="Shape 0">
              <a:extLst>
                <a:ext uri="{FF2B5EF4-FFF2-40B4-BE49-F238E27FC236}">
                  <a16:creationId xmlns:a16="http://schemas.microsoft.com/office/drawing/2014/main" id="{726E1EDC-3B05-6B5F-085A-3F6CB34037A0}"/>
                </a:ext>
              </a:extLst>
            </p:cNvPr>
            <p:cNvSpPr/>
            <p:nvPr/>
          </p:nvSpPr>
          <p:spPr>
            <a:xfrm>
              <a:off x="530352" y="409571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AFE433FC-66A3-B4A8-B226-95B1D7449807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8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명예의 전당</a:t>
              </a:r>
              <a:endParaRPr lang="en-US" sz="850" dirty="0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593BD2AB-60A2-962E-9207-23DAA11E8F4A}"/>
              </a:ext>
            </a:extLst>
          </p:cNvPr>
          <p:cNvGrpSpPr/>
          <p:nvPr/>
        </p:nvGrpSpPr>
        <p:grpSpPr>
          <a:xfrm>
            <a:off x="530352" y="402336"/>
            <a:ext cx="1097280" cy="347472"/>
            <a:chOff x="530352" y="402336"/>
            <a:chExt cx="960120" cy="256032"/>
          </a:xfrm>
        </p:grpSpPr>
        <p:sp>
          <p:nvSpPr>
            <p:cNvPr id="4" name="Shape 0">
              <a:extLst>
                <a:ext uri="{FF2B5EF4-FFF2-40B4-BE49-F238E27FC236}">
                  <a16:creationId xmlns:a16="http://schemas.microsoft.com/office/drawing/2014/main" id="{D51F9563-04E2-EB31-CA10-4612463749E0}"/>
                </a:ext>
              </a:extLst>
            </p:cNvPr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5" name="Text 1">
              <a:extLst>
                <a:ext uri="{FF2B5EF4-FFF2-40B4-BE49-F238E27FC236}">
                  <a16:creationId xmlns:a16="http://schemas.microsoft.com/office/drawing/2014/main" id="{FEF7A600-5323-C04C-D4C6-B988E2AE3021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ko-KR" altLang="en-US" sz="14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배포</a:t>
              </a:r>
              <a:endParaRPr lang="en-US" sz="14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FE3FF7AE-77FD-7DE4-678C-102437A59D73}"/>
              </a:ext>
            </a:extLst>
          </p:cNvPr>
          <p:cNvCxnSpPr>
            <a:cxnSpLocks/>
          </p:cNvCxnSpPr>
          <p:nvPr/>
        </p:nvCxnSpPr>
        <p:spPr>
          <a:xfrm>
            <a:off x="5924037" y="2099421"/>
            <a:ext cx="0" cy="4385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순서도: 대체 처리 8">
            <a:extLst>
              <a:ext uri="{FF2B5EF4-FFF2-40B4-BE49-F238E27FC236}">
                <a16:creationId xmlns:a16="http://schemas.microsoft.com/office/drawing/2014/main" id="{2206FBFE-CEDE-6CBD-8EB1-8FFD26A16984}"/>
              </a:ext>
            </a:extLst>
          </p:cNvPr>
          <p:cNvSpPr/>
          <p:nvPr/>
        </p:nvSpPr>
        <p:spPr>
          <a:xfrm>
            <a:off x="4817705" y="3769893"/>
            <a:ext cx="2212664" cy="721275"/>
          </a:xfrm>
          <a:prstGeom prst="flowChartAlternateProcess">
            <a:avLst/>
          </a:prstGeom>
          <a:solidFill>
            <a:srgbClr val="33B7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Django</a:t>
            </a:r>
            <a:br>
              <a:rPr lang="en-US" altLang="ko-KR" b="1" dirty="0"/>
            </a:br>
            <a:r>
              <a:rPr lang="en-US" altLang="ko-KR" b="1" dirty="0"/>
              <a:t>Application</a:t>
            </a:r>
            <a:endParaRPr lang="ko-KR" altLang="en-US" b="1" dirty="0"/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662116FF-FCD6-9059-7A77-C52E88A94A17}"/>
              </a:ext>
            </a:extLst>
          </p:cNvPr>
          <p:cNvSpPr/>
          <p:nvPr/>
        </p:nvSpPr>
        <p:spPr>
          <a:xfrm>
            <a:off x="4817705" y="1210195"/>
            <a:ext cx="2212664" cy="721275"/>
          </a:xfrm>
          <a:prstGeom prst="flowChartAlternateProcess">
            <a:avLst/>
          </a:prstGeom>
          <a:solidFill>
            <a:srgbClr val="33B7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사용자</a:t>
            </a:r>
            <a:endParaRPr lang="en-US" altLang="ko-KR" b="1" dirty="0"/>
          </a:p>
          <a:p>
            <a:pPr algn="ctr"/>
            <a:r>
              <a:rPr lang="ko-KR" altLang="en-US" b="1" dirty="0"/>
              <a:t>브라우저</a:t>
            </a:r>
          </a:p>
        </p:txBody>
      </p:sp>
      <p:sp>
        <p:nvSpPr>
          <p:cNvPr id="15" name="순서도: 대체 처리 14">
            <a:extLst>
              <a:ext uri="{FF2B5EF4-FFF2-40B4-BE49-F238E27FC236}">
                <a16:creationId xmlns:a16="http://schemas.microsoft.com/office/drawing/2014/main" id="{57C9F091-E727-B35B-C199-BFD4B06FBAB1}"/>
              </a:ext>
            </a:extLst>
          </p:cNvPr>
          <p:cNvSpPr/>
          <p:nvPr/>
        </p:nvSpPr>
        <p:spPr>
          <a:xfrm>
            <a:off x="4817705" y="5182930"/>
            <a:ext cx="2212664" cy="721275"/>
          </a:xfrm>
          <a:prstGeom prst="flowChartAlternateProcess">
            <a:avLst/>
          </a:prstGeom>
          <a:solidFill>
            <a:srgbClr val="33B7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SQLite</a:t>
            </a:r>
            <a:endParaRPr lang="ko-KR" altLang="en-US" b="1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A29E8A5-35BA-F1BA-BD9A-1A44ACB382A2}"/>
              </a:ext>
            </a:extLst>
          </p:cNvPr>
          <p:cNvCxnSpPr>
            <a:cxnSpLocks/>
          </p:cNvCxnSpPr>
          <p:nvPr/>
        </p:nvCxnSpPr>
        <p:spPr>
          <a:xfrm>
            <a:off x="5924037" y="4654778"/>
            <a:ext cx="0" cy="4385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DC754CA-0FB1-3FDD-D134-F560F7076E46}"/>
              </a:ext>
            </a:extLst>
          </p:cNvPr>
          <p:cNvCxnSpPr>
            <a:cxnSpLocks/>
          </p:cNvCxnSpPr>
          <p:nvPr/>
        </p:nvCxnSpPr>
        <p:spPr>
          <a:xfrm>
            <a:off x="5924037" y="3167776"/>
            <a:ext cx="0" cy="4385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0228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49EBC-7C31-61E8-3CF4-05C145665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39">
            <a:extLst>
              <a:ext uri="{FF2B5EF4-FFF2-40B4-BE49-F238E27FC236}">
                <a16:creationId xmlns:a16="http://schemas.microsoft.com/office/drawing/2014/main" id="{DF4412C1-B99A-AD1B-215A-7541B0EEE6B5}"/>
              </a:ext>
            </a:extLst>
          </p:cNvPr>
          <p:cNvSpPr/>
          <p:nvPr/>
        </p:nvSpPr>
        <p:spPr>
          <a:xfrm>
            <a:off x="-1923288" y="4006183"/>
            <a:ext cx="0" cy="438912"/>
          </a:xfrm>
          <a:prstGeom prst="line">
            <a:avLst/>
          </a:prstGeom>
          <a:noFill/>
          <a:ln w="9525">
            <a:solidFill>
              <a:srgbClr val="D4DDD8"/>
            </a:solidFill>
            <a:prstDash val="solid"/>
          </a:ln>
        </p:spPr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E800B0E-C405-EAA7-8877-15D35F7F1062}"/>
              </a:ext>
            </a:extLst>
          </p:cNvPr>
          <p:cNvGrpSpPr/>
          <p:nvPr/>
        </p:nvGrpSpPr>
        <p:grpSpPr>
          <a:xfrm>
            <a:off x="530352" y="409571"/>
            <a:ext cx="960120" cy="256032"/>
            <a:chOff x="530352" y="409571"/>
            <a:chExt cx="960120" cy="256032"/>
          </a:xfrm>
        </p:grpSpPr>
        <p:sp>
          <p:nvSpPr>
            <p:cNvPr id="13" name="Shape 0">
              <a:extLst>
                <a:ext uri="{FF2B5EF4-FFF2-40B4-BE49-F238E27FC236}">
                  <a16:creationId xmlns:a16="http://schemas.microsoft.com/office/drawing/2014/main" id="{6A2EF5AB-9EC1-1E38-07EA-56360636438B}"/>
                </a:ext>
              </a:extLst>
            </p:cNvPr>
            <p:cNvSpPr/>
            <p:nvPr/>
          </p:nvSpPr>
          <p:spPr>
            <a:xfrm>
              <a:off x="530352" y="409571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9B228F74-05A7-4C53-3A39-F812366C7F84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8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명예의 전당</a:t>
              </a:r>
              <a:endParaRPr lang="en-US" sz="850" dirty="0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8DA20FF2-1892-6058-F560-F27E153DD445}"/>
              </a:ext>
            </a:extLst>
          </p:cNvPr>
          <p:cNvGrpSpPr/>
          <p:nvPr/>
        </p:nvGrpSpPr>
        <p:grpSpPr>
          <a:xfrm>
            <a:off x="530352" y="402336"/>
            <a:ext cx="1097280" cy="347472"/>
            <a:chOff x="530352" y="402336"/>
            <a:chExt cx="960120" cy="256032"/>
          </a:xfrm>
        </p:grpSpPr>
        <p:sp>
          <p:nvSpPr>
            <p:cNvPr id="4" name="Shape 0">
              <a:extLst>
                <a:ext uri="{FF2B5EF4-FFF2-40B4-BE49-F238E27FC236}">
                  <a16:creationId xmlns:a16="http://schemas.microsoft.com/office/drawing/2014/main" id="{E638B938-F161-C3AB-96EE-762D851BC3CA}"/>
                </a:ext>
              </a:extLst>
            </p:cNvPr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5" name="Text 1">
              <a:extLst>
                <a:ext uri="{FF2B5EF4-FFF2-40B4-BE49-F238E27FC236}">
                  <a16:creationId xmlns:a16="http://schemas.microsoft.com/office/drawing/2014/main" id="{E8B8966C-FC56-4FFD-0CF9-0DFBFC369871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ko-KR" altLang="en-US" sz="14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배포</a:t>
              </a:r>
              <a:endParaRPr lang="en-US" sz="14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D5A37E0-4F13-E1B6-D302-7E25B6A2F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301951"/>
              </p:ext>
            </p:extLst>
          </p:nvPr>
        </p:nvGraphicFramePr>
        <p:xfrm>
          <a:off x="1444222" y="2131060"/>
          <a:ext cx="9303555" cy="2966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95047">
                  <a:extLst>
                    <a:ext uri="{9D8B030D-6E8A-4147-A177-3AD203B41FA5}">
                      <a16:colId xmlns:a16="http://schemas.microsoft.com/office/drawing/2014/main" val="3078709940"/>
                    </a:ext>
                  </a:extLst>
                </a:gridCol>
                <a:gridCol w="3704254">
                  <a:extLst>
                    <a:ext uri="{9D8B030D-6E8A-4147-A177-3AD203B41FA5}">
                      <a16:colId xmlns:a16="http://schemas.microsoft.com/office/drawing/2014/main" val="1125452636"/>
                    </a:ext>
                  </a:extLst>
                </a:gridCol>
                <a:gridCol w="3704254">
                  <a:extLst>
                    <a:ext uri="{9D8B030D-6E8A-4147-A177-3AD203B41FA5}">
                      <a16:colId xmlns:a16="http://schemas.microsoft.com/office/drawing/2014/main" val="999718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dirty="0" err="1">
                          <a:hlinkClick r:id="rId4"/>
                        </a:rPr>
                        <a:t>Cloudflare</a:t>
                      </a:r>
                      <a:r>
                        <a:rPr lang="ko-KR" altLang="ko-KR" dirty="0">
                          <a:hlinkClick r:id="rId4"/>
                        </a:rPr>
                        <a:t> </a:t>
                      </a:r>
                      <a:r>
                        <a:rPr lang="ko-KR" altLang="ko-KR" dirty="0" err="1">
                          <a:hlinkClick r:id="rId4"/>
                        </a:rPr>
                        <a:t>Tunnel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dirty="0" err="1">
                          <a:hlinkClick r:id="rId5"/>
                        </a:rPr>
                        <a:t>PythonAnywhere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442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서버</a:t>
                      </a:r>
                      <a:r>
                        <a:rPr lang="en-US" altLang="ko-KR" dirty="0"/>
                        <a:t>, DB</a:t>
                      </a:r>
                      <a:r>
                        <a:rPr lang="ko-KR" altLang="en-US" dirty="0"/>
                        <a:t> 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dirty="0"/>
                        <a:t>개인 PC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dirty="0"/>
                        <a:t>클라우드 서버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369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dirty="0"/>
                        <a:t>PC 전원 필요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dirty="0" err="1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933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dirty="0"/>
                        <a:t>배포 난이도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쉬움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보통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4347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dirty="0"/>
                        <a:t>테스트 용도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dirty="0"/>
                        <a:t>개발 및 시연용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dirty="0"/>
                        <a:t>실제 웹 서비스 배포용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953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도메인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복잡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주소 변동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간단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주소 유지 가능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064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주소 형태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xxxxxxxxxxxxxx.trycloudflare.com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사용자이름</a:t>
                      </a:r>
                      <a:r>
                        <a:rPr lang="en-US" altLang="ko-KR" dirty="0"/>
                        <a:t>.pythonanywhere.com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079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DB </a:t>
                      </a:r>
                      <a:r>
                        <a:rPr lang="ko-KR" altLang="en-US" dirty="0"/>
                        <a:t>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PostgreSQL (docker</a:t>
                      </a:r>
                      <a:r>
                        <a:rPr lang="ko-KR" altLang="en-US" dirty="0"/>
                        <a:t> 기반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SQLite / MySQL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311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22189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DACEA-449B-B31C-CEA9-DFD231E26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39">
            <a:extLst>
              <a:ext uri="{FF2B5EF4-FFF2-40B4-BE49-F238E27FC236}">
                <a16:creationId xmlns:a16="http://schemas.microsoft.com/office/drawing/2014/main" id="{8210019B-CF6F-C339-6D6B-EFD95D1B5697}"/>
              </a:ext>
            </a:extLst>
          </p:cNvPr>
          <p:cNvSpPr/>
          <p:nvPr/>
        </p:nvSpPr>
        <p:spPr>
          <a:xfrm>
            <a:off x="-1923288" y="4006183"/>
            <a:ext cx="0" cy="438912"/>
          </a:xfrm>
          <a:prstGeom prst="line">
            <a:avLst/>
          </a:prstGeom>
          <a:noFill/>
          <a:ln w="9525">
            <a:solidFill>
              <a:srgbClr val="D4DDD8"/>
            </a:solidFill>
            <a:prstDash val="solid"/>
          </a:ln>
        </p:spPr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0E607B0-CFD6-D9A4-6495-8A673DE2600A}"/>
              </a:ext>
            </a:extLst>
          </p:cNvPr>
          <p:cNvGrpSpPr/>
          <p:nvPr/>
        </p:nvGrpSpPr>
        <p:grpSpPr>
          <a:xfrm>
            <a:off x="530352" y="409571"/>
            <a:ext cx="960120" cy="256032"/>
            <a:chOff x="530352" y="409571"/>
            <a:chExt cx="960120" cy="256032"/>
          </a:xfrm>
        </p:grpSpPr>
        <p:sp>
          <p:nvSpPr>
            <p:cNvPr id="13" name="Shape 0">
              <a:extLst>
                <a:ext uri="{FF2B5EF4-FFF2-40B4-BE49-F238E27FC236}">
                  <a16:creationId xmlns:a16="http://schemas.microsoft.com/office/drawing/2014/main" id="{CDABC9F9-F4DF-0D79-7FA0-B668228934AA}"/>
                </a:ext>
              </a:extLst>
            </p:cNvPr>
            <p:cNvSpPr/>
            <p:nvPr/>
          </p:nvSpPr>
          <p:spPr>
            <a:xfrm>
              <a:off x="530352" y="409571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CCA71A5A-C70D-5C72-A33C-19C3D00B92C1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8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명예의 전당</a:t>
              </a:r>
              <a:endParaRPr lang="en-US" sz="850" dirty="0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777606FE-5EF9-6739-7F49-CB85E6DF296F}"/>
              </a:ext>
            </a:extLst>
          </p:cNvPr>
          <p:cNvGrpSpPr/>
          <p:nvPr/>
        </p:nvGrpSpPr>
        <p:grpSpPr>
          <a:xfrm>
            <a:off x="530352" y="402336"/>
            <a:ext cx="1097280" cy="347472"/>
            <a:chOff x="530352" y="402336"/>
            <a:chExt cx="960120" cy="256032"/>
          </a:xfrm>
        </p:grpSpPr>
        <p:sp>
          <p:nvSpPr>
            <p:cNvPr id="4" name="Shape 0">
              <a:extLst>
                <a:ext uri="{FF2B5EF4-FFF2-40B4-BE49-F238E27FC236}">
                  <a16:creationId xmlns:a16="http://schemas.microsoft.com/office/drawing/2014/main" id="{77C92B8E-1A98-74A7-C60A-49AE9F25954F}"/>
                </a:ext>
              </a:extLst>
            </p:cNvPr>
            <p:cNvSpPr/>
            <p:nvPr/>
          </p:nvSpPr>
          <p:spPr>
            <a:xfrm>
              <a:off x="530352" y="402336"/>
              <a:ext cx="960120" cy="256032"/>
            </a:xfrm>
            <a:prstGeom prst="roundRect">
              <a:avLst>
                <a:gd name="adj" fmla="val 21429"/>
              </a:avLst>
            </a:prstGeom>
            <a:solidFill>
              <a:srgbClr val="0F766E"/>
            </a:solidFill>
            <a:ln w="9525">
              <a:solidFill>
                <a:srgbClr val="0F766E">
                  <a:alpha val="0"/>
                </a:srgbClr>
              </a:solidFill>
              <a:prstDash val="solid"/>
            </a:ln>
          </p:spPr>
        </p:sp>
        <p:sp>
          <p:nvSpPr>
            <p:cNvPr id="5" name="Text 1">
              <a:extLst>
                <a:ext uri="{FF2B5EF4-FFF2-40B4-BE49-F238E27FC236}">
                  <a16:creationId xmlns:a16="http://schemas.microsoft.com/office/drawing/2014/main" id="{BE715807-8805-3E4C-A707-C5420C39CDD6}"/>
                </a:ext>
              </a:extLst>
            </p:cNvPr>
            <p:cNvSpPr/>
            <p:nvPr/>
          </p:nvSpPr>
          <p:spPr>
            <a:xfrm>
              <a:off x="603504" y="438912"/>
              <a:ext cx="813816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ko-KR" altLang="en-US" sz="1400" b="1" dirty="0">
                  <a:solidFill>
                    <a:srgbClr val="FFFFFF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시연</a:t>
              </a:r>
              <a:endParaRPr lang="en-US" sz="14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sp>
        <p:nvSpPr>
          <p:cNvPr id="6" name="직사각형 5">
            <a:hlinkClick r:id="rId3"/>
            <a:extLst>
              <a:ext uri="{FF2B5EF4-FFF2-40B4-BE49-F238E27FC236}">
                <a16:creationId xmlns:a16="http://schemas.microsoft.com/office/drawing/2014/main" id="{109024D6-AFC5-D2D0-420D-4833696DFE6A}"/>
              </a:ext>
            </a:extLst>
          </p:cNvPr>
          <p:cNvSpPr/>
          <p:nvPr/>
        </p:nvSpPr>
        <p:spPr>
          <a:xfrm>
            <a:off x="1291062" y="2967335"/>
            <a:ext cx="960987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classq.pythonanywhere.com</a:t>
            </a:r>
          </a:p>
        </p:txBody>
      </p:sp>
    </p:spTree>
    <p:extLst>
      <p:ext uri="{BB962C8B-B14F-4D97-AF65-F5344CB8AC3E}">
        <p14:creationId xmlns:p14="http://schemas.microsoft.com/office/powerpoint/2010/main" val="14158320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195" y="1689774"/>
            <a:ext cx="3626809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B8A6"/>
                </a:solidFill>
                <a:latin typeface="Georgia" panose="02040502050405020303" pitchFamily="18" charset="0"/>
                <a:ea typeface="HY견고딕" panose="02030600000101010101" pitchFamily="18" charset="-127"/>
                <a:cs typeface="Malgun Gothic" pitchFamily="34" charset="-120"/>
              </a:rPr>
              <a:t>THANK YOU</a:t>
            </a:r>
            <a:endParaRPr lang="en-US" sz="4000" dirty="0">
              <a:latin typeface="Georgia" panose="02040502050405020303" pitchFamily="18" charset="0"/>
              <a:ea typeface="HY견고딕" panose="02030600000101010101" pitchFamily="18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7240" y="6080760"/>
            <a:ext cx="10652760" cy="0"/>
          </a:xfrm>
          <a:prstGeom prst="line">
            <a:avLst/>
          </a:prstGeom>
          <a:noFill/>
          <a:ln w="10160">
            <a:solidFill>
              <a:srgbClr val="4153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6254496"/>
            <a:ext cx="3474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9E4DF"/>
                </a:solidFill>
                <a:latin typeface="휴먼모음T" panose="02030504000101010101" pitchFamily="18" charset="-127"/>
                <a:ea typeface="휴먼모음T" panose="02030504000101010101" pitchFamily="18" charset="-127"/>
                <a:cs typeface="Malgun Gothic" pitchFamily="34" charset="-120"/>
              </a:rPr>
              <a:t>차지환 · 한영탁 · 이연수 · 김영인</a:t>
            </a:r>
            <a:endParaRPr lang="en-US" sz="12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378440" y="6236208"/>
            <a:ext cx="7315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E4DF"/>
                </a:solidFill>
                <a:latin typeface="Georgia" panose="02040502050405020303" pitchFamily="18" charset="0"/>
                <a:ea typeface="Malgun Gothic" pitchFamily="34" charset="-122"/>
                <a:cs typeface="Malgun Gothic" pitchFamily="34" charset="-120"/>
              </a:rPr>
              <a:t>ClassQ</a:t>
            </a:r>
            <a:endParaRPr lang="en-US" sz="12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</TotalTime>
  <Words>718</Words>
  <Application>Microsoft Office PowerPoint</Application>
  <PresentationFormat>와이드스크린</PresentationFormat>
  <Paragraphs>266</Paragraphs>
  <Slides>28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Malgun Gothic</vt:lpstr>
      <vt:lpstr>휴먼모음T</vt:lpstr>
      <vt:lpstr>Arial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ClassQ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ClassQ 발표자료 개선본</dc:title>
  <dc:subject>ClassQ presentation redesign</dc:subject>
  <dc:creator>Codex</dc:creator>
  <cp:lastModifiedBy>Oingo Boingo</cp:lastModifiedBy>
  <cp:revision>58</cp:revision>
  <dcterms:created xsi:type="dcterms:W3CDTF">2026-06-04T02:41:51Z</dcterms:created>
  <dcterms:modified xsi:type="dcterms:W3CDTF">2026-06-09T14:23:32Z</dcterms:modified>
</cp:coreProperties>
</file>